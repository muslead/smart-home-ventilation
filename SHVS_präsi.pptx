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e7wnKMaf94y/kS8d1qUQOKic8K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Agha Muhammad Aslam"/>
  <p:cmAuthor clrIdx="1" id="1" initials="" lastIdx="9" name="Businessforj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24T03:14:31.561">
    <p:pos x="6000" y="0"/>
    <p:text>This slide can be replaced with ESP_Diagram that we have. that one is so much better to understand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cylVII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3-16T21:02:44.318">
    <p:pos x="6000" y="0"/>
    <p:text>das auch bearbeiten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9z6MHw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6-03-16T21:20:02.448">
    <p:pos x="6000" y="0"/>
    <p:text>Falls agha logik ändert dann muss das auch geändert werden ...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9z6MH4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3" dt="2026-03-22T20:05:34.076">
    <p:pos x="6000" y="0"/>
    <p:text>agha check pls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P0iAW4"/>
      </p:ext>
    </p:extLst>
  </p:cm>
  <p:cm authorId="0" idx="2" dt="2026-03-22T20:05:34.076">
    <p:pos x="6000" y="0"/>
    <p:text>@aghaaslam246@gmail.com</p:text>
    <p:extLst>
      <p:ext uri="{C676402C-5697-4E1C-873F-D02D1690AC5C}">
        <p15:threadingInfo timeZoneBias="0">
          <p15:parentCm authorId="1" idx="3"/>
        </p15:threadingInfo>
      </p:ext>
      <p:ext uri="http://customooxmlschemas.google.com/">
        <go:slidesCustomData xmlns:go="http://customooxmlschemas.google.com/" commentPostId="AAAB3mXLuAI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4" dt="2026-03-20T23:33:57.512">
    <p:pos x="6000" y="0"/>
    <p:text>agha check pls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P0iAW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3-24T03:17:44.477">
    <p:pos x="345" y="3052"/>
    <p:text>this part could be taken away!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cylVIM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5" dt="2026-03-23T17:28:56.445">
    <p:pos x="6000" y="0"/>
    <p:text>@aghaaslam246@gmail.com ... Bitte miss die Nachricht an dem esp communication und hier schreiben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_muvao"/>
      </p:ext>
    </p:extLst>
  </p:cm>
  <p:cm authorId="1" idx="6" dt="2026-03-21T18:30:45.867">
    <p:pos x="3928" y="2603"/>
    <p:text>ich glaube das ist hier ist unnötigt oder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P-szmQ"/>
      </p:ext>
    </p:extLst>
  </p:cm>
  <p:cm authorId="1" idx="7" dt="2026-03-20T23:33:38.705">
    <p:pos x="6000" y="100"/>
    <p:text>Agha check pls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P0iAWw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8" dt="2026-03-20T23:37:41.327">
    <p:pos x="6000" y="0"/>
    <p:text>@agha Wo passt das hier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P0iAW8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9" dt="2026-03-20T23:45:12.835">
    <p:pos x="6000" y="0"/>
    <p:text>@agha wo muss das hin?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P0iAX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063f4484a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063f4484a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063f4484a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63f4484a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d063f4484a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other word, the ECO mode allows the fan to be turned on only when the there is no wind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BEST mode, will turn on the fan as long as the Window open.</a:t>
            </a:r>
            <a:endParaRPr/>
          </a:p>
        </p:txBody>
      </p:sp>
      <p:sp>
        <p:nvSpPr>
          <p:cNvPr id="160" name="Google Shape;160;g3d063f4484a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063f4484a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d063f4484a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d063f4484a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17468b8e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d17468b8e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d17468b8e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17468b8ec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d17468b8ec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d17468b8ec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17468b8ec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d17468b8ec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d17468b8ec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17468b8ec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d17468b8ec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d17468b8ec_0_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17468b8ec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d17468b8ec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d17468b8ec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d063f4484a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d063f4484a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d063f4484a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4.xml"/><Relationship Id="rId4" Type="http://schemas.openxmlformats.org/officeDocument/2006/relationships/hyperlink" Target="http://script.j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5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6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7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8.xml"/><Relationship Id="rId4" Type="http://schemas.openxmlformats.org/officeDocument/2006/relationships/image" Target="../media/image1.jp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9.xml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600"/>
              <a:buFont typeface="Calibri"/>
              <a:buNone/>
            </a:pPr>
            <a:r>
              <a:rPr b="1" i="0" lang="en-US" sz="9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SHVS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Smart Home Ventilation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46589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Hochschule Fulda  ·  WS 2025/26  ·  IoT-Projekt</a:t>
            </a:r>
            <a:endParaRPr b="0" i="0" sz="1200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33750" y="319234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Team: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Jatin Saroay, Enrico Schellenberger, Agha Muhammad Aslam</a:t>
            </a:r>
            <a:endParaRPr sz="1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33879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Betreuer: Prof. Dr.-Ing. Christoph König </a:t>
            </a:r>
            <a:endParaRPr sz="1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256032" y="45720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Inhaltsverzeichnis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868680"/>
            <a:ext cx="4160520" cy="59436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868680"/>
            <a:ext cx="45720" cy="59436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30352" y="101498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05840" y="101498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Motivation &amp; Problemstellung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1581912"/>
            <a:ext cx="4160520" cy="59436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1581912"/>
            <a:ext cx="45720" cy="5943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30352" y="172821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05840" y="172821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Systemarchitektur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2987682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2987682"/>
            <a:ext cx="45600" cy="5943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30352" y="3133986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2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05840" y="3133986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Hardware &amp; Sensoren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3700914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65760" y="3700914"/>
            <a:ext cx="45600" cy="5943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30352" y="3847218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200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4414146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65760" y="4414146"/>
            <a:ext cx="45600" cy="5943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30352" y="4560450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34536" y="3860937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Timing &amp; Nachrichtenfrequenzen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54898" y="873265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754898" y="873265"/>
            <a:ext cx="45600" cy="594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919490" y="1019569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2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94977" y="1019569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Frontend &amp; Web-Interface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65755" y="2284818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65755" y="2284818"/>
            <a:ext cx="45600" cy="5943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30347" y="2431122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2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05835" y="2431122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Automatisierungslogik &amp; Modi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7846" y="2987837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57846" y="2987837"/>
            <a:ext cx="45600" cy="5943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922438" y="3134141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97926" y="3134141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Fazit &amp; Ausblick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751955" y="2290614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751955" y="2290614"/>
            <a:ext cx="45600" cy="5943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916547" y="2436918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392035" y="2436918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Herausforderungen &amp; Learnings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751955" y="3726208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751955" y="3726208"/>
            <a:ext cx="45600" cy="5943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916547" y="3872512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392035" y="3872512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Demo — Live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026307" y="457423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Kommunikation &amp; Protokolle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754943" y="1581957"/>
            <a:ext cx="4160400" cy="5943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754943" y="1581957"/>
            <a:ext cx="45600" cy="594300"/>
          </a:xfrm>
          <a:prstGeom prst="rect">
            <a:avLst/>
          </a:prstGeom>
          <a:solidFill>
            <a:srgbClr val="F6B26B"/>
          </a:solidFill>
          <a:ln cap="flat" cmpd="sng" w="127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4919535" y="1728261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6B26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200">
                <a:solidFill>
                  <a:srgbClr val="F6B26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rgbClr val="F6B2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395023" y="1728261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Setup &amp; 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Startreihenfolge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256032" y="45720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 &amp; Problemstellung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74320" y="804672"/>
            <a:ext cx="2788920" cy="1920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74320" y="804672"/>
            <a:ext cx="2788920" cy="3657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11480" y="93268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11480" y="135331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Luftdichte Gebäude in Deutschland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1773936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Keine zentralen Lüftungssysteme — Bewohner müssen manuell lüften und vergessen es häufig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172968" y="804672"/>
            <a:ext cx="2788920" cy="1920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172968" y="804672"/>
            <a:ext cx="2788920" cy="3657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310128" y="93268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💧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310128" y="135331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Schimmel &amp; Feuchtigkeitsrisiko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310128" y="1773936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Relative Luftfeuchtigkeit &gt; 80 % fördert Schimmelwachstum und Atemwegserkrankungen wie Asthma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071616" y="804672"/>
            <a:ext cx="2788920" cy="1920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071616" y="804672"/>
            <a:ext cx="278892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208776" y="93268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🌫️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208776" y="135331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Außenluftqualität ignoriert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208776" y="1773936"/>
            <a:ext cx="2514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Öffnen bei schlechter Außenluft (PM2.5) kann Schadstoffbelastung in Innenräumen erhöhen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74320" y="2834640"/>
            <a:ext cx="8595360" cy="2743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613622" y="3035800"/>
            <a:ext cx="1812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Unsere Antwort</a:t>
            </a:r>
            <a:r>
              <a:rPr b="1" lang="en-US" sz="13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→</a:t>
            </a: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SHVS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74320" y="3246120"/>
            <a:ext cx="4114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Echtzeit-Überwachung Indoor &amp; Outdoor (BME680)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Windgeschwindigkeit via Anemometer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Automatisches Fenster- und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Tür Öffnen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per Servo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Ventilator &amp; Absorber bei Bedarf aktivieren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617720" y="3246120"/>
            <a:ext cx="4114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Außenluftqualität (AQI) in Entscheidungslogik einbezogen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3 Modi: Manual · Auto Eco · Auto Best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Web-Interface zur Fernsteuerung &amp; Überwachung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Schimmelprävention durch kontrollierte Lüftung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56032" y="45720"/>
            <a:ext cx="5943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Systemarchitektur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217920" y="4572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 Submodule · Git Submodules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21218" y="1655058"/>
            <a:ext cx="18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10" y="859530"/>
            <a:ext cx="2011800" cy="20574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57310" y="868667"/>
            <a:ext cx="2011800" cy="36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143010" y="978402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30362" y="1453890"/>
            <a:ext cx="186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ESP_Sensors_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Actuators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30362" y="2002530"/>
            <a:ext cx="1865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Indoor &amp; Outdoor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721608" y="1655071"/>
            <a:ext cx="18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657600" y="859542"/>
            <a:ext cx="2011800" cy="20574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657663" y="868680"/>
            <a:ext cx="2011800" cy="36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343400" y="978415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730752" y="1453903"/>
            <a:ext cx="186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ESP_Comm.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730752" y="2002543"/>
            <a:ext cx="1865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ESP →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MQTT Broker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HTTP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632490" y="859542"/>
            <a:ext cx="2011800" cy="20574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632540" y="868692"/>
            <a:ext cx="2011800" cy="36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318290" y="978415"/>
            <a:ext cx="6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705642" y="1453903"/>
            <a:ext cx="186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SHVS_Front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End_Server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705642" y="2002543"/>
            <a:ext cx="1865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Web Interface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74320" y="3090672"/>
            <a:ext cx="4160520" cy="17830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74320" y="3090672"/>
            <a:ext cx="45720" cy="178308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57200" y="32004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🏠  ESP Indoor Node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57200" y="35204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BME680 (Temp · Feuchte · Druck · AQI)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3710983"/>
            <a:ext cx="3749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Window Servo (2x)</a:t>
            </a:r>
            <a:endParaRPr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Door Servo (1x)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7200" y="4473705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WiFi → MQTT → Communication Center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663440" y="3090672"/>
            <a:ext cx="4160520" cy="17830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663440" y="3090672"/>
            <a:ext cx="45720" cy="17830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846320" y="32004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🌤️  ESP Outdoor Node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46320" y="35204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BME680 (Temp · Feuchte · Druck</a:t>
            </a: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· AQI</a:t>
            </a: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232175" y="1796800"/>
            <a:ext cx="1704000" cy="22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846275" y="3738113"/>
            <a:ext cx="3749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Anemometer</a:t>
            </a:r>
            <a:endParaRPr b="0" i="0" sz="1100" u="none" cap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Relay Switch</a:t>
            </a: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Absorber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846283" y="4473705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WiFi → MQTT → Communication Center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794094" y="1811024"/>
            <a:ext cx="548700" cy="20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MQTT</a:t>
            </a:r>
            <a:endParaRPr b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309025" y="1828800"/>
            <a:ext cx="1519200" cy="22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785108" y="1842450"/>
            <a:ext cx="731700" cy="20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 / REST</a:t>
            </a:r>
            <a:endParaRPr b="1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>
            <a:off x="1459635" y="2924543"/>
            <a:ext cx="54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4"/>
          <p:cNvCxnSpPr>
            <a:stCxn id="113" idx="2"/>
          </p:cNvCxnSpPr>
          <p:nvPr/>
        </p:nvCxnSpPr>
        <p:spPr>
          <a:xfrm>
            <a:off x="1463110" y="2916930"/>
            <a:ext cx="3719100" cy="2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063f4484a_0_21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063f4484a_0_219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063f4484a_0_219"/>
          <p:cNvSpPr/>
          <p:nvPr/>
        </p:nvSpPr>
        <p:spPr>
          <a:xfrm>
            <a:off x="256032" y="45720"/>
            <a:ext cx="594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Systemarchitectur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d063f4484a_0_219"/>
          <p:cNvSpPr/>
          <p:nvPr/>
        </p:nvSpPr>
        <p:spPr>
          <a:xfrm>
            <a:off x="256026" y="862621"/>
            <a:ext cx="45600" cy="39837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g3d063f4484a_0_219" title="SHVS-IoT-Diagram-ESPs-Diagram-Marc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525" y="775576"/>
            <a:ext cx="3970500" cy="43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063f4484a_0_16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063f4484a_0_166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063f4484a_0_166"/>
          <p:cNvSpPr/>
          <p:nvPr/>
        </p:nvSpPr>
        <p:spPr>
          <a:xfrm>
            <a:off x="256032" y="45720"/>
            <a:ext cx="594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Automatisierungslogik &amp; Modi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063f4484a_0_166"/>
          <p:cNvSpPr/>
          <p:nvPr/>
        </p:nvSpPr>
        <p:spPr>
          <a:xfrm>
            <a:off x="6217920" y="45720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system_state.c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063f4484a_0_166"/>
          <p:cNvSpPr/>
          <p:nvPr/>
        </p:nvSpPr>
        <p:spPr>
          <a:xfrm>
            <a:off x="274320" y="804672"/>
            <a:ext cx="2788800" cy="411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063f4484a_0_166"/>
          <p:cNvSpPr/>
          <p:nvPr/>
        </p:nvSpPr>
        <p:spPr>
          <a:xfrm>
            <a:off x="411480" y="859536"/>
            <a:ext cx="251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063f4484a_0_166"/>
          <p:cNvSpPr/>
          <p:nvPr/>
        </p:nvSpPr>
        <p:spPr>
          <a:xfrm>
            <a:off x="274320" y="1280160"/>
            <a:ext cx="2788800" cy="1691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063f4484a_0_166"/>
          <p:cNvSpPr/>
          <p:nvPr/>
        </p:nvSpPr>
        <p:spPr>
          <a:xfrm>
            <a:off x="274320" y="1280160"/>
            <a:ext cx="45600" cy="16917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063f4484a_0_166"/>
          <p:cNvSpPr/>
          <p:nvPr/>
        </p:nvSpPr>
        <p:spPr>
          <a:xfrm>
            <a:off x="438912" y="1737360"/>
            <a:ext cx="2469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Vollständige Kontrolle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über Web-Interface</a:t>
            </a:r>
            <a:endParaRPr i="1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d063f4484a_0_166"/>
          <p:cNvSpPr/>
          <p:nvPr/>
        </p:nvSpPr>
        <p:spPr>
          <a:xfrm>
            <a:off x="274320" y="3063240"/>
            <a:ext cx="2788800" cy="17832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063f4484a_0_166"/>
          <p:cNvSpPr/>
          <p:nvPr/>
        </p:nvSpPr>
        <p:spPr>
          <a:xfrm>
            <a:off x="274320" y="3063240"/>
            <a:ext cx="45600" cy="1783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063f4484a_0_166"/>
          <p:cNvSpPr/>
          <p:nvPr/>
        </p:nvSpPr>
        <p:spPr>
          <a:xfrm>
            <a:off x="438912" y="3136392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Aktionen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063f4484a_0_166"/>
          <p:cNvSpPr/>
          <p:nvPr/>
        </p:nvSpPr>
        <p:spPr>
          <a:xfrm>
            <a:off x="438912" y="340156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window / door / fan / absorber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d063f4484a_0_166"/>
          <p:cNvSpPr/>
          <p:nvPr/>
        </p:nvSpPr>
        <p:spPr>
          <a:xfrm>
            <a:off x="438912" y="367588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direkt per HTTP steuerbar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063f4484a_0_166"/>
          <p:cNvSpPr/>
          <p:nvPr/>
        </p:nvSpPr>
        <p:spPr>
          <a:xfrm>
            <a:off x="438912" y="395020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Keine auto Sensorreaktion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063f4484a_0_166"/>
          <p:cNvSpPr/>
          <p:nvPr/>
        </p:nvSpPr>
        <p:spPr>
          <a:xfrm>
            <a:off x="438912" y="422452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Safety: fan = false wenn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063f4484a_0_166"/>
          <p:cNvSpPr/>
          <p:nvPr/>
        </p:nvSpPr>
        <p:spPr>
          <a:xfrm>
            <a:off x="438912" y="449884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window = false (immer aktiv)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d063f4484a_0_166"/>
          <p:cNvSpPr/>
          <p:nvPr/>
        </p:nvSpPr>
        <p:spPr>
          <a:xfrm>
            <a:off x="3172968" y="804672"/>
            <a:ext cx="2788800" cy="411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063f4484a_0_166"/>
          <p:cNvSpPr/>
          <p:nvPr/>
        </p:nvSpPr>
        <p:spPr>
          <a:xfrm>
            <a:off x="3310128" y="859536"/>
            <a:ext cx="251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ECO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063f4484a_0_166"/>
          <p:cNvSpPr/>
          <p:nvPr/>
        </p:nvSpPr>
        <p:spPr>
          <a:xfrm>
            <a:off x="3172968" y="1280160"/>
            <a:ext cx="2788800" cy="1691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063f4484a_0_166"/>
          <p:cNvSpPr/>
          <p:nvPr/>
        </p:nvSpPr>
        <p:spPr>
          <a:xfrm>
            <a:off x="3172968" y="1280160"/>
            <a:ext cx="45600" cy="16917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063f4484a_0_166"/>
          <p:cNvSpPr/>
          <p:nvPr/>
        </p:nvSpPr>
        <p:spPr>
          <a:xfrm>
            <a:off x="3337560" y="1353312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d063f4484a_0_166"/>
          <p:cNvSpPr/>
          <p:nvPr/>
        </p:nvSpPr>
        <p:spPr>
          <a:xfrm>
            <a:off x="3337560" y="1600200"/>
            <a:ext cx="2469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t/>
            </a:r>
            <a:endParaRPr i="1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Der Raum wird möglichst effizient gelüftet</a:t>
            </a:r>
            <a:endParaRPr sz="950">
              <a:solidFill>
                <a:srgbClr val="1E293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" name="Google Shape;185;g3d063f4484a_0_166"/>
          <p:cNvSpPr/>
          <p:nvPr/>
        </p:nvSpPr>
        <p:spPr>
          <a:xfrm>
            <a:off x="3172968" y="3063240"/>
            <a:ext cx="2788800" cy="17832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063f4484a_0_166"/>
          <p:cNvSpPr/>
          <p:nvPr/>
        </p:nvSpPr>
        <p:spPr>
          <a:xfrm>
            <a:off x="3172968" y="3063240"/>
            <a:ext cx="45600" cy="17832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063f4484a_0_166"/>
          <p:cNvSpPr/>
          <p:nvPr/>
        </p:nvSpPr>
        <p:spPr>
          <a:xfrm>
            <a:off x="3337560" y="3136392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Aktionen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063f4484a_0_166"/>
          <p:cNvSpPr/>
          <p:nvPr/>
        </p:nvSpPr>
        <p:spPr>
          <a:xfrm>
            <a:off x="3337560" y="340156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Fenster auf: outdoor_aq &lt;=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GOOD_AQ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063f4484a_0_166"/>
          <p:cNvSpPr/>
          <p:nvPr/>
        </p:nvSpPr>
        <p:spPr>
          <a:xfrm>
            <a:off x="3337560" y="367588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d063f4484a_0_166"/>
          <p:cNvSpPr/>
          <p:nvPr/>
        </p:nvSpPr>
        <p:spPr>
          <a:xfrm>
            <a:off x="3337560" y="395020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Fan: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wenn wind_speed  &gt; WIND_HIGH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d063f4484a_0_166"/>
          <p:cNvSpPr/>
          <p:nvPr/>
        </p:nvSpPr>
        <p:spPr>
          <a:xfrm>
            <a:off x="3337560" y="422452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Fan: an bei Feuchte &gt; 20% oder Temp &gt; 25°C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063f4484a_0_166"/>
          <p:cNvSpPr/>
          <p:nvPr/>
        </p:nvSpPr>
        <p:spPr>
          <a:xfrm>
            <a:off x="3337560" y="449884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Absorber: an bei Feuchte &gt;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HIGH_HUMIDITY oder outdoor_aq &gt; GOOD_AQ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d063f4484a_0_166"/>
          <p:cNvSpPr/>
          <p:nvPr/>
        </p:nvSpPr>
        <p:spPr>
          <a:xfrm>
            <a:off x="6071616" y="804672"/>
            <a:ext cx="2788800" cy="411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063f4484a_0_166"/>
          <p:cNvSpPr/>
          <p:nvPr/>
        </p:nvSpPr>
        <p:spPr>
          <a:xfrm>
            <a:off x="6208776" y="859536"/>
            <a:ext cx="251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BEST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063f4484a_0_166"/>
          <p:cNvSpPr/>
          <p:nvPr/>
        </p:nvSpPr>
        <p:spPr>
          <a:xfrm>
            <a:off x="6071616" y="1280160"/>
            <a:ext cx="2788800" cy="16917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d063f4484a_0_166"/>
          <p:cNvSpPr/>
          <p:nvPr/>
        </p:nvSpPr>
        <p:spPr>
          <a:xfrm>
            <a:off x="6071616" y="1280160"/>
            <a:ext cx="45600" cy="16917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063f4484a_0_166"/>
          <p:cNvSpPr/>
          <p:nvPr/>
        </p:nvSpPr>
        <p:spPr>
          <a:xfrm>
            <a:off x="6236208" y="1353312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063f4484a_0_166"/>
          <p:cNvSpPr/>
          <p:nvPr/>
        </p:nvSpPr>
        <p:spPr>
          <a:xfrm>
            <a:off x="6236200" y="1600200"/>
            <a:ext cx="25791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t/>
            </a:r>
            <a:endParaRPr i="1" sz="11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Der Raum wird bei bestmöglichen Luftqualität gehalten</a:t>
            </a:r>
            <a:endParaRPr sz="950">
              <a:solidFill>
                <a:srgbClr val="1E293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" name="Google Shape;199;g3d063f4484a_0_166"/>
          <p:cNvSpPr/>
          <p:nvPr/>
        </p:nvSpPr>
        <p:spPr>
          <a:xfrm>
            <a:off x="6071616" y="3063240"/>
            <a:ext cx="2788800" cy="17832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063f4484a_0_166"/>
          <p:cNvSpPr/>
          <p:nvPr/>
        </p:nvSpPr>
        <p:spPr>
          <a:xfrm>
            <a:off x="6071616" y="3063240"/>
            <a:ext cx="45600" cy="17832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063f4484a_0_166"/>
          <p:cNvSpPr/>
          <p:nvPr/>
        </p:nvSpPr>
        <p:spPr>
          <a:xfrm>
            <a:off x="6236208" y="3136392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Aktionen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063f4484a_0_166"/>
          <p:cNvSpPr/>
          <p:nvPr/>
        </p:nvSpPr>
        <p:spPr>
          <a:xfrm>
            <a:off x="6236208" y="340156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Fenster auf: Diff &gt; 10% und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outdoor_aq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&lt;= GOOD_AQ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d063f4484a_0_166"/>
          <p:cNvSpPr/>
          <p:nvPr/>
        </p:nvSpPr>
        <p:spPr>
          <a:xfrm>
            <a:off x="6236208" y="367588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Fenster zu: outdoor_aq &gt;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d063f4484a_0_166"/>
          <p:cNvSpPr/>
          <p:nvPr/>
        </p:nvSpPr>
        <p:spPr>
          <a:xfrm>
            <a:off x="6236208" y="395020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Fan: an wenn Fenster auf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d063f4484a_0_166"/>
          <p:cNvSpPr/>
          <p:nvPr/>
        </p:nvSpPr>
        <p:spPr>
          <a:xfrm>
            <a:off x="6236208" y="422452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063f4484a_0_166"/>
          <p:cNvSpPr/>
          <p:nvPr/>
        </p:nvSpPr>
        <p:spPr>
          <a:xfrm>
            <a:off x="6236208" y="449884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Absorber: an bei Feuchte &gt; HIGH_HUMIDITY oder outdoor_aq &gt; GOOD_AQ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063f4484a_0_166"/>
          <p:cNvSpPr/>
          <p:nvPr/>
        </p:nvSpPr>
        <p:spPr>
          <a:xfrm>
            <a:off x="274320" y="4818888"/>
            <a:ext cx="8595300" cy="2196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063f4484a_0_166"/>
          <p:cNvSpPr/>
          <p:nvPr/>
        </p:nvSpPr>
        <p:spPr>
          <a:xfrm>
            <a:off x="457200" y="4846320"/>
            <a:ext cx="8321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Konstanten: HUMIDITY_DIFF_THRESHOLD=10.0  |  HIGH_HUMIDITY=20.0  |  GOOD_AQ=20  |  WIND_HIGH=5.0  |  fan=false erzwungen wenn window=false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063f4484a_0_166"/>
          <p:cNvSpPr/>
          <p:nvPr/>
        </p:nvSpPr>
        <p:spPr>
          <a:xfrm>
            <a:off x="3332883" y="366680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Fenster zu: outdoor_aq &gt;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/>
          <p:nvPr/>
        </p:nvSpPr>
        <p:spPr>
          <a:xfrm>
            <a:off x="4754875" y="3357872"/>
            <a:ext cx="3931800" cy="6345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256032" y="45720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&amp; Sensoren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🏠  Indoor Node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4754880" y="80467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🌤️  Outdoor Node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365760" y="1152144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365760" y="1152144"/>
            <a:ext cx="45720" cy="80467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502920" y="12435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🔲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987552" y="12161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ESP32 (Lolin/Wemos)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987552" y="1499616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Mikrocontroller, Dual-Core 240 MHz, WiFi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365760" y="2084832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365760" y="2084832"/>
            <a:ext cx="45720" cy="80467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502920" y="21762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🌡️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987552" y="2148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BME680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987552" y="2432304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Temperatur · Luftfeuchtigkeit · Druck · AQI/VOC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365760" y="3017520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365760" y="3017520"/>
            <a:ext cx="45720" cy="80467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502920" y="3108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🪟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987552" y="30815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Window Servo (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2x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987552" y="3364992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Öffnet und schließt das Fenster automatisch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365760" y="3950208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365760" y="3950208"/>
            <a:ext cx="45720" cy="80467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4882891" y="3498439"/>
            <a:ext cx="411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376800" y="3458781"/>
            <a:ext cx="3154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Absorber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5376797" y="3682233"/>
            <a:ext cx="28827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Aktivkohle-Luftfilter zur Reinigung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4754875" y="1152150"/>
            <a:ext cx="3931800" cy="6345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4754875" y="1152150"/>
            <a:ext cx="45600" cy="6345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4892036" y="1224232"/>
            <a:ext cx="411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🔲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376670" y="1202608"/>
            <a:ext cx="3154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ESP32 (Lolin/Wemos)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5376670" y="1426063"/>
            <a:ext cx="31548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Mikrocontroller, Dual-Core 240 MHz, WiFi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754875" y="1887391"/>
            <a:ext cx="3931800" cy="6345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4754875" y="1887391"/>
            <a:ext cx="45600" cy="6345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4892036" y="1959473"/>
            <a:ext cx="411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🌡️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5376670" y="1937848"/>
            <a:ext cx="3154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BME680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376670" y="2161304"/>
            <a:ext cx="31548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Außentemperatur · Luftfeuchtigkeit · Druck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754875" y="2622632"/>
            <a:ext cx="3931800" cy="6345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4754875" y="2622632"/>
            <a:ext cx="45600" cy="6345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4892036" y="2694714"/>
            <a:ext cx="411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🌬️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5376670" y="2673089"/>
            <a:ext cx="3154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Anemometer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5376670" y="2896545"/>
            <a:ext cx="31548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Misst Windgeschwindigkeit (analog)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4754875" y="3357872"/>
            <a:ext cx="45600" cy="6345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511294" y="416539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🚪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984564" y="4014216"/>
            <a:ext cx="315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Door Servo + Relay (1x)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956543" y="4297680"/>
            <a:ext cx="315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Tür-Steuerung + Lüftungs-Relais (Fan)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4480560" y="777240"/>
            <a:ext cx="27432" cy="41148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365760" y="4818888"/>
            <a:ext cx="8412480" cy="219456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548640" y="4846320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Toolchain: ESP-IDF · PlatformIO · VS Code · C-Implementierung  |  Espressif ESP32 Plattform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754938" y="4120494"/>
            <a:ext cx="3931800" cy="6345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4882953" y="4261060"/>
            <a:ext cx="411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5376862" y="4221403"/>
            <a:ext cx="3154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Relay Switch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5376859" y="4444855"/>
            <a:ext cx="28827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Schaltet den Ventilator an und aus mit 12V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4754938" y="4120494"/>
            <a:ext cx="45600" cy="6345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256032" y="45720"/>
            <a:ext cx="5943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Timing &amp; Nachrichtenfrequenzen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6217920" y="4572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MQTT Timeouts &amp; Update-Intervalle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365760" y="8046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🌤️  Outdoor Node — Sendet / Hört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365760" y="1152144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365760" y="1152144"/>
            <a:ext cx="45720" cy="80467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502920" y="1243584"/>
            <a:ext cx="804672" cy="25603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502920" y="1252728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1389888" y="12161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BME680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3200400" y="121615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⏱  100 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1389888" y="151790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alle 10 Millisekunden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365760" y="2084832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365760" y="2084832"/>
            <a:ext cx="45720" cy="8046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502920" y="2176272"/>
            <a:ext cx="804672" cy="25603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/>
          <p:nvPr/>
        </p:nvSpPr>
        <p:spPr>
          <a:xfrm>
            <a:off x="502920" y="2185416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1389888" y="2148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Anemometer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3200400" y="21488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⏱  1000 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1389888" y="24505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jede Sekunde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709223" y="3017566"/>
            <a:ext cx="3931800" cy="804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4709223" y="3017566"/>
            <a:ext cx="45600" cy="804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4846383" y="3109006"/>
            <a:ext cx="804600" cy="2559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4846383" y="3118150"/>
            <a:ext cx="80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HÖRT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5733351" y="3081574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Door Servo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7543863" y="3081574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⏱  200 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5733351" y="338332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alle 200 Millisekunden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365760" y="3950208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365760" y="3950208"/>
            <a:ext cx="45720" cy="8046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502920" y="4041648"/>
            <a:ext cx="804672" cy="25603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502920" y="4050792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HÖRT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389888" y="40142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Relay Switch (Fan)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3200400" y="401421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⏱  1000 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1389888" y="43159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jede Sekunde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480560" y="777240"/>
            <a:ext cx="27432" cy="41148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4709160" y="8046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🏠  Indoor Node — Sendet / Hört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4709160" y="1152144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4709160" y="1152144"/>
            <a:ext cx="45720" cy="80467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4846320" y="1243584"/>
            <a:ext cx="804672" cy="256032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4846320" y="1252728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5742432" y="12161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BME680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7543800" y="121615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⏱  100 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5742432" y="151790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alle 10 Millisekunden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709160" y="2084832"/>
            <a:ext cx="3931920" cy="80467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4709160" y="2084832"/>
            <a:ext cx="45720" cy="80467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4846320" y="2176272"/>
            <a:ext cx="804672" cy="25603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4846320" y="2185416"/>
            <a:ext cx="804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HÖRT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742432" y="2148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Window Servos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7543800" y="21488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⏱  200 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5742432" y="24505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alle 200 Millisekunden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365753" y="3977650"/>
            <a:ext cx="45600" cy="7773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365822" y="3017545"/>
            <a:ext cx="3931800" cy="804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365822" y="3017545"/>
            <a:ext cx="45600" cy="804600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502983" y="3108985"/>
            <a:ext cx="804600" cy="2559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502983" y="3118129"/>
            <a:ext cx="80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HÖRT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1399095" y="308155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Absorber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3200463" y="3081553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⏱  200 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1399095" y="3383305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alle 200 Millisekunden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063f4484a_0_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d063f4484a_0_13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d063f4484a_0_13"/>
          <p:cNvSpPr/>
          <p:nvPr/>
        </p:nvSpPr>
        <p:spPr>
          <a:xfrm>
            <a:off x="256032" y="45720"/>
            <a:ext cx="594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Timing &amp; Nachrichtenfrequenzen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d063f4484a_0_13"/>
          <p:cNvSpPr/>
          <p:nvPr/>
        </p:nvSpPr>
        <p:spPr>
          <a:xfrm>
            <a:off x="6217920" y="45720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MQTT Timeouts &amp; Update-Intervalle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d063f4484a_0_13"/>
          <p:cNvSpPr/>
          <p:nvPr/>
        </p:nvSpPr>
        <p:spPr>
          <a:xfrm>
            <a:off x="256025" y="970150"/>
            <a:ext cx="4426800" cy="11064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d063f4484a_0_13"/>
          <p:cNvSpPr/>
          <p:nvPr/>
        </p:nvSpPr>
        <p:spPr>
          <a:xfrm>
            <a:off x="356503" y="1043224"/>
            <a:ext cx="3432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💻  Node.js Frontend — Polling Intervalle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d063f4484a_0_13"/>
          <p:cNvSpPr/>
          <p:nvPr/>
        </p:nvSpPr>
        <p:spPr>
          <a:xfrm>
            <a:off x="399315" y="1395407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🌡️  fetchSensors()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063f4484a_0_13"/>
          <p:cNvSpPr/>
          <p:nvPr/>
        </p:nvSpPr>
        <p:spPr>
          <a:xfrm>
            <a:off x="1852015" y="1402345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alle 3000 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063f4484a_0_13"/>
          <p:cNvSpPr/>
          <p:nvPr/>
        </p:nvSpPr>
        <p:spPr>
          <a:xfrm>
            <a:off x="399326" y="1743150"/>
            <a:ext cx="321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🔁  fetchStatus()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d063f4484a_0_13"/>
          <p:cNvSpPr/>
          <p:nvPr/>
        </p:nvSpPr>
        <p:spPr>
          <a:xfrm>
            <a:off x="1852015" y="1743157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alle </a:t>
            </a: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000 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17468b8ec_0_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17468b8ec_0_0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d17468b8ec_0_0"/>
          <p:cNvSpPr/>
          <p:nvPr/>
        </p:nvSpPr>
        <p:spPr>
          <a:xfrm>
            <a:off x="256032" y="45720"/>
            <a:ext cx="594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Kommunikation &amp; Protokolle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d17468b8ec_0_0"/>
          <p:cNvSpPr/>
          <p:nvPr/>
        </p:nvSpPr>
        <p:spPr>
          <a:xfrm>
            <a:off x="6217920" y="45720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MQTT intern · HTTP REST extern · Browser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d17468b8ec_0_0"/>
          <p:cNvSpPr/>
          <p:nvPr/>
        </p:nvSpPr>
        <p:spPr>
          <a:xfrm>
            <a:off x="274320" y="804672"/>
            <a:ext cx="1920300" cy="804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d17468b8ec_0_0"/>
          <p:cNvSpPr/>
          <p:nvPr/>
        </p:nvSpPr>
        <p:spPr>
          <a:xfrm>
            <a:off x="274320" y="804672"/>
            <a:ext cx="1920300" cy="36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17468b8ec_0_0"/>
          <p:cNvSpPr/>
          <p:nvPr/>
        </p:nvSpPr>
        <p:spPr>
          <a:xfrm>
            <a:off x="347472" y="896112"/>
            <a:ext cx="177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d17468b8ec_0_0"/>
          <p:cNvSpPr/>
          <p:nvPr/>
        </p:nvSpPr>
        <p:spPr>
          <a:xfrm>
            <a:off x="347472" y="1261872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152B47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script.js</a:t>
            </a:r>
            <a:r>
              <a:rPr i="1" lang="en-US" sz="900">
                <a:solidFill>
                  <a:srgbClr val="152B47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US" sz="900" u="none" cap="none" strike="noStrike">
                <a:solidFill>
                  <a:srgbClr val="152B47"/>
                </a:solidFill>
                <a:latin typeface="Calibri"/>
                <a:ea typeface="Calibri"/>
                <a:cs typeface="Calibri"/>
                <a:sym typeface="Calibri"/>
              </a:rPr>
              <a:t>apiCalls.js</a:t>
            </a:r>
            <a:endParaRPr b="0" i="0" sz="900" u="none" cap="none" strike="noStrike">
              <a:solidFill>
                <a:srgbClr val="152B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d17468b8ec_0_0"/>
          <p:cNvSpPr/>
          <p:nvPr/>
        </p:nvSpPr>
        <p:spPr>
          <a:xfrm>
            <a:off x="2194560" y="1170432"/>
            <a:ext cx="255900" cy="27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d17468b8ec_0_0"/>
          <p:cNvSpPr/>
          <p:nvPr/>
        </p:nvSpPr>
        <p:spPr>
          <a:xfrm>
            <a:off x="2331720" y="1042416"/>
            <a:ext cx="137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d17468b8ec_0_0"/>
          <p:cNvSpPr/>
          <p:nvPr/>
        </p:nvSpPr>
        <p:spPr>
          <a:xfrm>
            <a:off x="2450592" y="804672"/>
            <a:ext cx="1920300" cy="804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d17468b8ec_0_0"/>
          <p:cNvSpPr/>
          <p:nvPr/>
        </p:nvSpPr>
        <p:spPr>
          <a:xfrm>
            <a:off x="2450592" y="804672"/>
            <a:ext cx="1920300" cy="36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d17468b8ec_0_0"/>
          <p:cNvSpPr/>
          <p:nvPr/>
        </p:nvSpPr>
        <p:spPr>
          <a:xfrm>
            <a:off x="2523744" y="896112"/>
            <a:ext cx="177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d17468b8ec_0_0"/>
          <p:cNvSpPr/>
          <p:nvPr/>
        </p:nvSpPr>
        <p:spPr>
          <a:xfrm>
            <a:off x="2523744" y="1261872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Express /api/v1</a:t>
            </a:r>
            <a:endParaRPr b="0" i="0" sz="9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d17468b8ec_0_0"/>
          <p:cNvSpPr/>
          <p:nvPr/>
        </p:nvSpPr>
        <p:spPr>
          <a:xfrm>
            <a:off x="4370832" y="1170432"/>
            <a:ext cx="255900" cy="27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17468b8ec_0_0"/>
          <p:cNvSpPr/>
          <p:nvPr/>
        </p:nvSpPr>
        <p:spPr>
          <a:xfrm>
            <a:off x="4507992" y="1042416"/>
            <a:ext cx="137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17468b8ec_0_0"/>
          <p:cNvSpPr/>
          <p:nvPr/>
        </p:nvSpPr>
        <p:spPr>
          <a:xfrm>
            <a:off x="4626864" y="804672"/>
            <a:ext cx="1920300" cy="804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d17468b8ec_0_0"/>
          <p:cNvSpPr/>
          <p:nvPr/>
        </p:nvSpPr>
        <p:spPr>
          <a:xfrm>
            <a:off x="4626864" y="804672"/>
            <a:ext cx="1920300" cy="36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d17468b8ec_0_0"/>
          <p:cNvSpPr/>
          <p:nvPr/>
        </p:nvSpPr>
        <p:spPr>
          <a:xfrm>
            <a:off x="4700016" y="896112"/>
            <a:ext cx="177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ESP32 Comm.Center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17468b8ec_0_0"/>
          <p:cNvSpPr/>
          <p:nvPr/>
        </p:nvSpPr>
        <p:spPr>
          <a:xfrm>
            <a:off x="4700016" y="1261872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HTTP Server</a:t>
            </a:r>
            <a:endParaRPr b="0" i="0" sz="9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d17468b8ec_0_0"/>
          <p:cNvSpPr/>
          <p:nvPr/>
        </p:nvSpPr>
        <p:spPr>
          <a:xfrm>
            <a:off x="6547104" y="1170432"/>
            <a:ext cx="255900" cy="27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17468b8ec_0_0"/>
          <p:cNvSpPr/>
          <p:nvPr/>
        </p:nvSpPr>
        <p:spPr>
          <a:xfrm>
            <a:off x="6684264" y="1042416"/>
            <a:ext cx="137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d17468b8ec_0_0"/>
          <p:cNvSpPr/>
          <p:nvPr/>
        </p:nvSpPr>
        <p:spPr>
          <a:xfrm>
            <a:off x="6803136" y="804672"/>
            <a:ext cx="1920300" cy="804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d17468b8ec_0_0"/>
          <p:cNvSpPr/>
          <p:nvPr/>
        </p:nvSpPr>
        <p:spPr>
          <a:xfrm>
            <a:off x="6803136" y="804672"/>
            <a:ext cx="1920300" cy="36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d17468b8ec_0_0"/>
          <p:cNvSpPr/>
          <p:nvPr/>
        </p:nvSpPr>
        <p:spPr>
          <a:xfrm>
            <a:off x="6876288" y="896112"/>
            <a:ext cx="1773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 Indoor+Outdoor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d17468b8ec_0_0"/>
          <p:cNvSpPr/>
          <p:nvPr/>
        </p:nvSpPr>
        <p:spPr>
          <a:xfrm>
            <a:off x="6876288" y="1261872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MQTT Subscriber</a:t>
            </a:r>
            <a:endParaRPr b="0" i="0" sz="9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d17468b8ec_0_0"/>
          <p:cNvSpPr/>
          <p:nvPr/>
        </p:nvSpPr>
        <p:spPr>
          <a:xfrm>
            <a:off x="274320" y="1828800"/>
            <a:ext cx="4206300" cy="3127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17468b8ec_0_0"/>
          <p:cNvSpPr/>
          <p:nvPr/>
        </p:nvSpPr>
        <p:spPr>
          <a:xfrm>
            <a:off x="274320" y="1828800"/>
            <a:ext cx="4206300" cy="36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d17468b8ec_0_0"/>
          <p:cNvSpPr/>
          <p:nvPr/>
        </p:nvSpPr>
        <p:spPr>
          <a:xfrm>
            <a:off x="457200" y="193852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REST API  —  /api/v1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d17468b8ec_0_0"/>
          <p:cNvSpPr/>
          <p:nvPr/>
        </p:nvSpPr>
        <p:spPr>
          <a:xfrm>
            <a:off x="457200" y="22128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Browser → Node.js (apiCalls.js → Express router)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d17468b8ec_0_0"/>
          <p:cNvSpPr/>
          <p:nvPr/>
        </p:nvSpPr>
        <p:spPr>
          <a:xfrm>
            <a:off x="457200" y="2487168"/>
            <a:ext cx="530400" cy="237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d17468b8ec_0_0"/>
          <p:cNvSpPr/>
          <p:nvPr/>
        </p:nvSpPr>
        <p:spPr>
          <a:xfrm>
            <a:off x="457200" y="2505456"/>
            <a:ext cx="53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d17468b8ec_0_0"/>
          <p:cNvSpPr/>
          <p:nvPr/>
        </p:nvSpPr>
        <p:spPr>
          <a:xfrm>
            <a:off x="1042416" y="2505456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/sensors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d17468b8ec_0_0"/>
          <p:cNvSpPr/>
          <p:nvPr/>
        </p:nvSpPr>
        <p:spPr>
          <a:xfrm>
            <a:off x="2267712" y="250545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Sensordaten abrufen (JSON)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d17468b8ec_0_0"/>
          <p:cNvSpPr/>
          <p:nvPr/>
        </p:nvSpPr>
        <p:spPr>
          <a:xfrm>
            <a:off x="457200" y="2889504"/>
            <a:ext cx="530400" cy="237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17468b8ec_0_0"/>
          <p:cNvSpPr/>
          <p:nvPr/>
        </p:nvSpPr>
        <p:spPr>
          <a:xfrm>
            <a:off x="457200" y="2907792"/>
            <a:ext cx="53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d17468b8ec_0_0"/>
          <p:cNvSpPr/>
          <p:nvPr/>
        </p:nvSpPr>
        <p:spPr>
          <a:xfrm>
            <a:off x="1042416" y="2907792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d17468b8ec_0_0"/>
          <p:cNvSpPr/>
          <p:nvPr/>
        </p:nvSpPr>
        <p:spPr>
          <a:xfrm>
            <a:off x="2267712" y="2907792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Aktorstatus abrufen (JSON)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d17468b8ec_0_0"/>
          <p:cNvSpPr/>
          <p:nvPr/>
        </p:nvSpPr>
        <p:spPr>
          <a:xfrm>
            <a:off x="457200" y="3291840"/>
            <a:ext cx="530400" cy="237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d17468b8ec_0_0"/>
          <p:cNvSpPr/>
          <p:nvPr/>
        </p:nvSpPr>
        <p:spPr>
          <a:xfrm>
            <a:off x="457200" y="3310128"/>
            <a:ext cx="53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d17468b8ec_0_0"/>
          <p:cNvSpPr/>
          <p:nvPr/>
        </p:nvSpPr>
        <p:spPr>
          <a:xfrm>
            <a:off x="1042416" y="3310128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d17468b8ec_0_0"/>
          <p:cNvSpPr/>
          <p:nvPr/>
        </p:nvSpPr>
        <p:spPr>
          <a:xfrm>
            <a:off x="2267712" y="3310128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Modus setzen  { mode: 0|1|2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d17468b8ec_0_0"/>
          <p:cNvSpPr/>
          <p:nvPr/>
        </p:nvSpPr>
        <p:spPr>
          <a:xfrm>
            <a:off x="457200" y="3694176"/>
            <a:ext cx="530400" cy="237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d17468b8ec_0_0"/>
          <p:cNvSpPr/>
          <p:nvPr/>
        </p:nvSpPr>
        <p:spPr>
          <a:xfrm>
            <a:off x="457200" y="3712464"/>
            <a:ext cx="53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d17468b8ec_0_0"/>
          <p:cNvSpPr/>
          <p:nvPr/>
        </p:nvSpPr>
        <p:spPr>
          <a:xfrm>
            <a:off x="1042416" y="3712464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/actuators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d17468b8ec_0_0"/>
          <p:cNvSpPr/>
          <p:nvPr/>
        </p:nvSpPr>
        <p:spPr>
          <a:xfrm>
            <a:off x="2267712" y="3712464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Aktoren steuern  { window, fan...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d17468b8ec_0_0"/>
          <p:cNvSpPr/>
          <p:nvPr/>
        </p:nvSpPr>
        <p:spPr>
          <a:xfrm>
            <a:off x="457200" y="4096512"/>
            <a:ext cx="530400" cy="237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d17468b8ec_0_0"/>
          <p:cNvSpPr/>
          <p:nvPr/>
        </p:nvSpPr>
        <p:spPr>
          <a:xfrm>
            <a:off x="457200" y="4114800"/>
            <a:ext cx="53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d17468b8ec_0_0"/>
          <p:cNvSpPr/>
          <p:nvPr/>
        </p:nvSpPr>
        <p:spPr>
          <a:xfrm>
            <a:off x="1042416" y="4114800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/schedule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d17468b8ec_0_0"/>
          <p:cNvSpPr/>
          <p:nvPr/>
        </p:nvSpPr>
        <p:spPr>
          <a:xfrm>
            <a:off x="2267712" y="4114800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Zeitplan abrufen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d17468b8ec_0_0"/>
          <p:cNvSpPr/>
          <p:nvPr/>
        </p:nvSpPr>
        <p:spPr>
          <a:xfrm>
            <a:off x="457200" y="4498848"/>
            <a:ext cx="530400" cy="237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d17468b8ec_0_0"/>
          <p:cNvSpPr/>
          <p:nvPr/>
        </p:nvSpPr>
        <p:spPr>
          <a:xfrm>
            <a:off x="457200" y="4517136"/>
            <a:ext cx="53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d17468b8ec_0_0"/>
          <p:cNvSpPr/>
          <p:nvPr/>
        </p:nvSpPr>
        <p:spPr>
          <a:xfrm>
            <a:off x="1042416" y="4517136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/schedule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d17468b8ec_0_0"/>
          <p:cNvSpPr/>
          <p:nvPr/>
        </p:nvSpPr>
        <p:spPr>
          <a:xfrm>
            <a:off x="2267712" y="451713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Zeitplan setzen  { periods: [...]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d17468b8ec_0_0"/>
          <p:cNvSpPr/>
          <p:nvPr/>
        </p:nvSpPr>
        <p:spPr>
          <a:xfrm>
            <a:off x="4663440" y="1828800"/>
            <a:ext cx="4206300" cy="3127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d17468b8ec_0_0"/>
          <p:cNvSpPr/>
          <p:nvPr/>
        </p:nvSpPr>
        <p:spPr>
          <a:xfrm>
            <a:off x="4663440" y="1828800"/>
            <a:ext cx="4206300" cy="36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d17468b8ec_0_0"/>
          <p:cNvSpPr/>
          <p:nvPr/>
        </p:nvSpPr>
        <p:spPr>
          <a:xfrm>
            <a:off x="4846320" y="193852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ESP32 HTTP  +  MQTT intern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d17468b8ec_0_0"/>
          <p:cNvSpPr/>
          <p:nvPr/>
        </p:nvSpPr>
        <p:spPr>
          <a:xfrm>
            <a:off x="4846320" y="22128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Node.js → ESP32 Comm. Center → MQTT → Indoor/Outdoor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d17468b8ec_0_0"/>
          <p:cNvSpPr/>
          <p:nvPr/>
        </p:nvSpPr>
        <p:spPr>
          <a:xfrm>
            <a:off x="4846320" y="2487168"/>
            <a:ext cx="438900" cy="237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d17468b8ec_0_0"/>
          <p:cNvSpPr/>
          <p:nvPr/>
        </p:nvSpPr>
        <p:spPr>
          <a:xfrm>
            <a:off x="4846320" y="2505456"/>
            <a:ext cx="43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d17468b8ec_0_0"/>
          <p:cNvSpPr/>
          <p:nvPr/>
        </p:nvSpPr>
        <p:spPr>
          <a:xfrm>
            <a:off x="5340096" y="2505456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ESP32/window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d17468b8ec_0_0"/>
          <p:cNvSpPr/>
          <p:nvPr/>
        </p:nvSpPr>
        <p:spPr>
          <a:xfrm>
            <a:off x="7205472" y="2505456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Fenster öffnen/schließen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d17468b8ec_0_0"/>
          <p:cNvSpPr/>
          <p:nvPr/>
        </p:nvSpPr>
        <p:spPr>
          <a:xfrm>
            <a:off x="4846320" y="2889504"/>
            <a:ext cx="438900" cy="237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d17468b8ec_0_0"/>
          <p:cNvSpPr/>
          <p:nvPr/>
        </p:nvSpPr>
        <p:spPr>
          <a:xfrm>
            <a:off x="4846320" y="2907792"/>
            <a:ext cx="43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d17468b8ec_0_0"/>
          <p:cNvSpPr/>
          <p:nvPr/>
        </p:nvSpPr>
        <p:spPr>
          <a:xfrm>
            <a:off x="5340096" y="2907792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ESP32/fan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d17468b8ec_0_0"/>
          <p:cNvSpPr/>
          <p:nvPr/>
        </p:nvSpPr>
        <p:spPr>
          <a:xfrm>
            <a:off x="7205472" y="29077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Ventilator AN/AUS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d17468b8ec_0_0"/>
          <p:cNvSpPr/>
          <p:nvPr/>
        </p:nvSpPr>
        <p:spPr>
          <a:xfrm>
            <a:off x="4846320" y="3291840"/>
            <a:ext cx="438900" cy="237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d17468b8ec_0_0"/>
          <p:cNvSpPr/>
          <p:nvPr/>
        </p:nvSpPr>
        <p:spPr>
          <a:xfrm>
            <a:off x="4846320" y="3310128"/>
            <a:ext cx="43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d17468b8ec_0_0"/>
          <p:cNvSpPr/>
          <p:nvPr/>
        </p:nvSpPr>
        <p:spPr>
          <a:xfrm>
            <a:off x="5340096" y="3310128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ESP32/door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d17468b8ec_0_0"/>
          <p:cNvSpPr/>
          <p:nvPr/>
        </p:nvSpPr>
        <p:spPr>
          <a:xfrm>
            <a:off x="7205472" y="3310128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Tür öffnen/schließen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d17468b8ec_0_0"/>
          <p:cNvSpPr/>
          <p:nvPr/>
        </p:nvSpPr>
        <p:spPr>
          <a:xfrm>
            <a:off x="4846320" y="3694176"/>
            <a:ext cx="438900" cy="237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17468b8ec_0_0"/>
          <p:cNvSpPr/>
          <p:nvPr/>
        </p:nvSpPr>
        <p:spPr>
          <a:xfrm>
            <a:off x="4846320" y="3712464"/>
            <a:ext cx="43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d17468b8ec_0_0"/>
          <p:cNvSpPr/>
          <p:nvPr/>
        </p:nvSpPr>
        <p:spPr>
          <a:xfrm>
            <a:off x="5340096" y="3712464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ESP32/absorber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d17468b8ec_0_0"/>
          <p:cNvSpPr/>
          <p:nvPr/>
        </p:nvSpPr>
        <p:spPr>
          <a:xfrm>
            <a:off x="7205472" y="3712464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Absorber AN/AUS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d17468b8ec_0_0"/>
          <p:cNvSpPr/>
          <p:nvPr/>
        </p:nvSpPr>
        <p:spPr>
          <a:xfrm>
            <a:off x="4846320" y="4096512"/>
            <a:ext cx="438900" cy="237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d17468b8ec_0_0"/>
          <p:cNvSpPr/>
          <p:nvPr/>
        </p:nvSpPr>
        <p:spPr>
          <a:xfrm>
            <a:off x="4846320" y="4114800"/>
            <a:ext cx="43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d17468b8ec_0_0"/>
          <p:cNvSpPr/>
          <p:nvPr/>
        </p:nvSpPr>
        <p:spPr>
          <a:xfrm>
            <a:off x="5340096" y="4114800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sensors/indoor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d17468b8ec_0_0"/>
          <p:cNvSpPr/>
          <p:nvPr/>
        </p:nvSpPr>
        <p:spPr>
          <a:xfrm>
            <a:off x="7205472" y="4114800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BME680 Innenraumdaten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d17468b8ec_0_0"/>
          <p:cNvSpPr/>
          <p:nvPr/>
        </p:nvSpPr>
        <p:spPr>
          <a:xfrm>
            <a:off x="4846320" y="4498848"/>
            <a:ext cx="438900" cy="237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d17468b8ec_0_0"/>
          <p:cNvSpPr/>
          <p:nvPr/>
        </p:nvSpPr>
        <p:spPr>
          <a:xfrm>
            <a:off x="4846320" y="4517136"/>
            <a:ext cx="43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d17468b8ec_0_0"/>
          <p:cNvSpPr/>
          <p:nvPr/>
        </p:nvSpPr>
        <p:spPr>
          <a:xfrm>
            <a:off x="5340096" y="4517136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sensors/outdoor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d17468b8ec_0_0"/>
          <p:cNvSpPr/>
          <p:nvPr/>
        </p:nvSpPr>
        <p:spPr>
          <a:xfrm>
            <a:off x="7205472" y="4517136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BME680 + Anemometer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17468b8ec_0_8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d17468b8ec_0_88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d17468b8ec_0_88"/>
          <p:cNvSpPr/>
          <p:nvPr/>
        </p:nvSpPr>
        <p:spPr>
          <a:xfrm>
            <a:off x="256032" y="45720"/>
            <a:ext cx="594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&amp; Web-Interface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d17468b8ec_0_88"/>
          <p:cNvSpPr/>
          <p:nvPr/>
        </p:nvSpPr>
        <p:spPr>
          <a:xfrm>
            <a:off x="6217920" y="45720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Node.js · Express · EJS · apiCalls.js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d17468b8ec_0_88"/>
          <p:cNvSpPr/>
          <p:nvPr/>
        </p:nvSpPr>
        <p:spPr>
          <a:xfrm>
            <a:off x="274320" y="804672"/>
            <a:ext cx="3200400" cy="42519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17468b8ec_0_88"/>
          <p:cNvSpPr/>
          <p:nvPr/>
        </p:nvSpPr>
        <p:spPr>
          <a:xfrm>
            <a:off x="274320" y="804672"/>
            <a:ext cx="3200400" cy="36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d17468b8ec_0_88"/>
          <p:cNvSpPr/>
          <p:nvPr/>
        </p:nvSpPr>
        <p:spPr>
          <a:xfrm>
            <a:off x="457200" y="914400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Projektstruktur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d17468b8ec_0_88"/>
          <p:cNvSpPr/>
          <p:nvPr/>
        </p:nvSpPr>
        <p:spPr>
          <a:xfrm>
            <a:off x="457200" y="1243584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SHVS_Front_End_Server/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d17468b8ec_0_88"/>
          <p:cNvSpPr/>
          <p:nvPr/>
        </p:nvSpPr>
        <p:spPr>
          <a:xfrm>
            <a:off x="713232" y="1467612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4FD8"/>
                </a:solidFill>
                <a:latin typeface="Consolas"/>
                <a:ea typeface="Consolas"/>
                <a:cs typeface="Consolas"/>
                <a:sym typeface="Consolas"/>
              </a:rPr>
              <a:t>app.js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d17468b8ec_0_88"/>
          <p:cNvSpPr/>
          <p:nvPr/>
        </p:nvSpPr>
        <p:spPr>
          <a:xfrm>
            <a:off x="713232" y="1691640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config.js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d17468b8ec_0_88"/>
          <p:cNvSpPr/>
          <p:nvPr/>
        </p:nvSpPr>
        <p:spPr>
          <a:xfrm>
            <a:off x="713232" y="1915668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routes/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d17468b8ec_0_88"/>
          <p:cNvSpPr/>
          <p:nvPr/>
        </p:nvSpPr>
        <p:spPr>
          <a:xfrm>
            <a:off x="969264" y="2139696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api.js       ← /api/v1 Router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d17468b8ec_0_88"/>
          <p:cNvSpPr/>
          <p:nvPr/>
        </p:nvSpPr>
        <p:spPr>
          <a:xfrm>
            <a:off x="969264" y="2363724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index.js     ← Web-UI Route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d17468b8ec_0_88"/>
          <p:cNvSpPr/>
          <p:nvPr/>
        </p:nvSpPr>
        <p:spPr>
          <a:xfrm>
            <a:off x="713232" y="2587752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controllers/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d17468b8ec_0_88"/>
          <p:cNvSpPr/>
          <p:nvPr/>
        </p:nvSpPr>
        <p:spPr>
          <a:xfrm>
            <a:off x="969264" y="2811780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ventilationController.js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d17468b8ec_0_88"/>
          <p:cNvSpPr/>
          <p:nvPr/>
        </p:nvSpPr>
        <p:spPr>
          <a:xfrm>
            <a:off x="969264" y="3035808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apiCalls.js  ← Browser-Seite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d17468b8ec_0_88"/>
          <p:cNvSpPr/>
          <p:nvPr/>
        </p:nvSpPr>
        <p:spPr>
          <a:xfrm>
            <a:off x="713232" y="3259836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services/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d17468b8ec_0_88"/>
          <p:cNvSpPr/>
          <p:nvPr/>
        </p:nvSpPr>
        <p:spPr>
          <a:xfrm>
            <a:off x="969264" y="3483864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4FD8"/>
                </a:solidFill>
                <a:latin typeface="Consolas"/>
                <a:ea typeface="Consolas"/>
                <a:cs typeface="Consolas"/>
                <a:sym typeface="Consolas"/>
              </a:rPr>
              <a:t>esp32Client.js  ← HTTP zu ESP32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d17468b8ec_0_88"/>
          <p:cNvSpPr/>
          <p:nvPr/>
        </p:nvSpPr>
        <p:spPr>
          <a:xfrm>
            <a:off x="713232" y="3707892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utils/asyncHandler.js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d17468b8ec_0_88"/>
          <p:cNvSpPr/>
          <p:nvPr/>
        </p:nvSpPr>
        <p:spPr>
          <a:xfrm>
            <a:off x="713232" y="3931920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views/index.ejs  ← HTML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d17468b8ec_0_88"/>
          <p:cNvSpPr/>
          <p:nvPr/>
        </p:nvSpPr>
        <p:spPr>
          <a:xfrm>
            <a:off x="3639312" y="804672"/>
            <a:ext cx="2505600" cy="4251900"/>
          </a:xfrm>
          <a:prstGeom prst="rect">
            <a:avLst/>
          </a:prstGeom>
          <a:solidFill>
            <a:srgbClr val="E8EFF8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d17468b8ec_0_88"/>
          <p:cNvSpPr/>
          <p:nvPr/>
        </p:nvSpPr>
        <p:spPr>
          <a:xfrm>
            <a:off x="3639312" y="804672"/>
            <a:ext cx="2505600" cy="36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d17468b8ec_0_88"/>
          <p:cNvSpPr/>
          <p:nvPr/>
        </p:nvSpPr>
        <p:spPr>
          <a:xfrm>
            <a:off x="3794760" y="914400"/>
            <a:ext cx="214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Datenfluss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d17468b8ec_0_88"/>
          <p:cNvSpPr/>
          <p:nvPr/>
        </p:nvSpPr>
        <p:spPr>
          <a:xfrm>
            <a:off x="3749040" y="1243584"/>
            <a:ext cx="228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d17468b8ec_0_88"/>
          <p:cNvSpPr/>
          <p:nvPr/>
        </p:nvSpPr>
        <p:spPr>
          <a:xfrm>
            <a:off x="3858768" y="1298448"/>
            <a:ext cx="206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Browser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d17468b8ec_0_88"/>
          <p:cNvSpPr/>
          <p:nvPr/>
        </p:nvSpPr>
        <p:spPr>
          <a:xfrm>
            <a:off x="3858768" y="1481328"/>
            <a:ext cx="206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index.ejs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d17468b8ec_0_88"/>
          <p:cNvSpPr/>
          <p:nvPr/>
        </p:nvSpPr>
        <p:spPr>
          <a:xfrm>
            <a:off x="4480560" y="1700784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d17468b8ec_0_88"/>
          <p:cNvSpPr/>
          <p:nvPr/>
        </p:nvSpPr>
        <p:spPr>
          <a:xfrm>
            <a:off x="3749040" y="1847088"/>
            <a:ext cx="228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d17468b8ec_0_88"/>
          <p:cNvSpPr/>
          <p:nvPr/>
        </p:nvSpPr>
        <p:spPr>
          <a:xfrm>
            <a:off x="3858768" y="1901952"/>
            <a:ext cx="206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apiCalls.js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d17468b8ec_0_88"/>
          <p:cNvSpPr/>
          <p:nvPr/>
        </p:nvSpPr>
        <p:spPr>
          <a:xfrm>
            <a:off x="3858768" y="2084832"/>
            <a:ext cx="206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fetch /api/v1/...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d17468b8ec_0_88"/>
          <p:cNvSpPr/>
          <p:nvPr/>
        </p:nvSpPr>
        <p:spPr>
          <a:xfrm>
            <a:off x="4480560" y="2304288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d17468b8ec_0_88"/>
          <p:cNvSpPr/>
          <p:nvPr/>
        </p:nvSpPr>
        <p:spPr>
          <a:xfrm>
            <a:off x="3749040" y="2450592"/>
            <a:ext cx="228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d17468b8ec_0_88"/>
          <p:cNvSpPr/>
          <p:nvPr/>
        </p:nvSpPr>
        <p:spPr>
          <a:xfrm>
            <a:off x="3858768" y="2505456"/>
            <a:ext cx="206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Express Router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d17468b8ec_0_88"/>
          <p:cNvSpPr/>
          <p:nvPr/>
        </p:nvSpPr>
        <p:spPr>
          <a:xfrm>
            <a:off x="3858768" y="2688336"/>
            <a:ext cx="206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routes/api.js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d17468b8ec_0_88"/>
          <p:cNvSpPr/>
          <p:nvPr/>
        </p:nvSpPr>
        <p:spPr>
          <a:xfrm>
            <a:off x="4480560" y="2907792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d17468b8ec_0_88"/>
          <p:cNvSpPr/>
          <p:nvPr/>
        </p:nvSpPr>
        <p:spPr>
          <a:xfrm>
            <a:off x="3749040" y="3054096"/>
            <a:ext cx="228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d17468b8ec_0_88"/>
          <p:cNvSpPr/>
          <p:nvPr/>
        </p:nvSpPr>
        <p:spPr>
          <a:xfrm>
            <a:off x="3858768" y="3108960"/>
            <a:ext cx="206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ventilationController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d17468b8ec_0_88"/>
          <p:cNvSpPr/>
          <p:nvPr/>
        </p:nvSpPr>
        <p:spPr>
          <a:xfrm>
            <a:off x="3858768" y="3291840"/>
            <a:ext cx="206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.getSensors() etc.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d17468b8ec_0_88"/>
          <p:cNvSpPr/>
          <p:nvPr/>
        </p:nvSpPr>
        <p:spPr>
          <a:xfrm>
            <a:off x="4480560" y="3511296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d17468b8ec_0_88"/>
          <p:cNvSpPr/>
          <p:nvPr/>
        </p:nvSpPr>
        <p:spPr>
          <a:xfrm>
            <a:off x="3749040" y="3657600"/>
            <a:ext cx="228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d17468b8ec_0_88"/>
          <p:cNvSpPr/>
          <p:nvPr/>
        </p:nvSpPr>
        <p:spPr>
          <a:xfrm>
            <a:off x="3858768" y="3712464"/>
            <a:ext cx="206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esp32Client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d17468b8ec_0_88"/>
          <p:cNvSpPr/>
          <p:nvPr/>
        </p:nvSpPr>
        <p:spPr>
          <a:xfrm>
            <a:off x="3858768" y="3895344"/>
            <a:ext cx="206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fetch ESP32_BASE_URL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d17468b8ec_0_88"/>
          <p:cNvSpPr/>
          <p:nvPr/>
        </p:nvSpPr>
        <p:spPr>
          <a:xfrm>
            <a:off x="4480560" y="4114800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d17468b8ec_0_88"/>
          <p:cNvSpPr/>
          <p:nvPr/>
        </p:nvSpPr>
        <p:spPr>
          <a:xfrm>
            <a:off x="3749040" y="4261104"/>
            <a:ext cx="22860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d17468b8ec_0_88"/>
          <p:cNvSpPr/>
          <p:nvPr/>
        </p:nvSpPr>
        <p:spPr>
          <a:xfrm>
            <a:off x="3858768" y="4315968"/>
            <a:ext cx="2066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d17468b8ec_0_88"/>
          <p:cNvSpPr/>
          <p:nvPr/>
        </p:nvSpPr>
        <p:spPr>
          <a:xfrm>
            <a:off x="3858768" y="4498848"/>
            <a:ext cx="206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HTTP Response 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d17468b8ec_0_88"/>
          <p:cNvSpPr/>
          <p:nvPr/>
        </p:nvSpPr>
        <p:spPr>
          <a:xfrm>
            <a:off x="6309360" y="804672"/>
            <a:ext cx="2560200" cy="42519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d17468b8ec_0_88"/>
          <p:cNvSpPr/>
          <p:nvPr/>
        </p:nvSpPr>
        <p:spPr>
          <a:xfrm>
            <a:off x="6309360" y="804672"/>
            <a:ext cx="2560200" cy="36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d17468b8ec_0_88"/>
          <p:cNvSpPr/>
          <p:nvPr/>
        </p:nvSpPr>
        <p:spPr>
          <a:xfrm>
            <a:off x="6492240" y="91440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UI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d17468b8ec_0_88"/>
          <p:cNvSpPr/>
          <p:nvPr/>
        </p:nvSpPr>
        <p:spPr>
          <a:xfrm>
            <a:off x="6492240" y="1243584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Sensor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d17468b8ec_0_88"/>
          <p:cNvSpPr/>
          <p:nvPr/>
        </p:nvSpPr>
        <p:spPr>
          <a:xfrm>
            <a:off x="6492240" y="1490472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Temp, Feuchte, AQI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d17468b8ec_0_88"/>
          <p:cNvSpPr/>
          <p:nvPr/>
        </p:nvSpPr>
        <p:spPr>
          <a:xfrm>
            <a:off x="6492240" y="1700784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Indoor + Outdoor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d17468b8ec_0_88"/>
          <p:cNvSpPr/>
          <p:nvPr/>
        </p:nvSpPr>
        <p:spPr>
          <a:xfrm>
            <a:off x="6492240" y="1911096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Wind km/h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d17468b8ec_0_88"/>
          <p:cNvSpPr/>
          <p:nvPr/>
        </p:nvSpPr>
        <p:spPr>
          <a:xfrm>
            <a:off x="6492240" y="2148840"/>
            <a:ext cx="2194500" cy="90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d17468b8ec_0_88"/>
          <p:cNvSpPr/>
          <p:nvPr/>
        </p:nvSpPr>
        <p:spPr>
          <a:xfrm>
            <a:off x="6492240" y="2231136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Aktor-Steuerung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d17468b8ec_0_88"/>
          <p:cNvSpPr/>
          <p:nvPr/>
        </p:nvSpPr>
        <p:spPr>
          <a:xfrm>
            <a:off x="6492240" y="2478024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Window / Fan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d17468b8ec_0_88"/>
          <p:cNvSpPr/>
          <p:nvPr/>
        </p:nvSpPr>
        <p:spPr>
          <a:xfrm>
            <a:off x="6492240" y="2688336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Door / Absorber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17468b8ec_0_88"/>
          <p:cNvSpPr/>
          <p:nvPr/>
        </p:nvSpPr>
        <p:spPr>
          <a:xfrm>
            <a:off x="6492240" y="2898648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Toggle Buttons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d17468b8ec_0_88"/>
          <p:cNvSpPr/>
          <p:nvPr/>
        </p:nvSpPr>
        <p:spPr>
          <a:xfrm>
            <a:off x="6492240" y="3136392"/>
            <a:ext cx="2194500" cy="90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d17468b8ec_0_88"/>
          <p:cNvSpPr/>
          <p:nvPr/>
        </p:nvSpPr>
        <p:spPr>
          <a:xfrm>
            <a:off x="6492240" y="3218688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Modus-Auswahl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d17468b8ec_0_88"/>
          <p:cNvSpPr/>
          <p:nvPr/>
        </p:nvSpPr>
        <p:spPr>
          <a:xfrm>
            <a:off x="6492240" y="3465576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MANUAL (2)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d17468b8ec_0_88"/>
          <p:cNvSpPr/>
          <p:nvPr/>
        </p:nvSpPr>
        <p:spPr>
          <a:xfrm>
            <a:off x="6492240" y="3675888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AUTO ECO (1)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d17468b8ec_0_88"/>
          <p:cNvSpPr/>
          <p:nvPr/>
        </p:nvSpPr>
        <p:spPr>
          <a:xfrm>
            <a:off x="6492240" y="3886200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AUTO BEST (0)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d17468b8ec_0_88"/>
          <p:cNvSpPr/>
          <p:nvPr/>
        </p:nvSpPr>
        <p:spPr>
          <a:xfrm>
            <a:off x="6492240" y="4123944"/>
            <a:ext cx="2194500" cy="90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d17468b8ec_0_88"/>
          <p:cNvSpPr/>
          <p:nvPr/>
        </p:nvSpPr>
        <p:spPr>
          <a:xfrm>
            <a:off x="6492240" y="420624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Zeitplan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d17468b8ec_0_88"/>
          <p:cNvSpPr/>
          <p:nvPr/>
        </p:nvSpPr>
        <p:spPr>
          <a:xfrm>
            <a:off x="6492240" y="4453128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Zeitraum + Modus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d17468b8ec_0_88"/>
          <p:cNvSpPr/>
          <p:nvPr/>
        </p:nvSpPr>
        <p:spPr>
          <a:xfrm>
            <a:off x="6492240" y="4663440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All Day Option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d17468b8ec_0_88"/>
          <p:cNvSpPr/>
          <p:nvPr/>
        </p:nvSpPr>
        <p:spPr>
          <a:xfrm>
            <a:off x="6492240" y="4873752"/>
            <a:ext cx="219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 Send / Clear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0"/>
          <p:cNvSpPr/>
          <p:nvPr/>
        </p:nvSpPr>
        <p:spPr>
          <a:xfrm>
            <a:off x="256032" y="45720"/>
            <a:ext cx="5943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 &amp;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Startreihenfolge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0"/>
          <p:cNvSpPr/>
          <p:nvPr/>
        </p:nvSpPr>
        <p:spPr>
          <a:xfrm>
            <a:off x="502920" y="978408"/>
            <a:ext cx="384048" cy="384048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0"/>
          <p:cNvSpPr/>
          <p:nvPr/>
        </p:nvSpPr>
        <p:spPr>
          <a:xfrm>
            <a:off x="502920" y="100584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1005840" y="960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WiFi konfigurieren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005840" y="1252728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secret.ini in config/ → SSID + Passwort eintragen (alle ESP-Projekte)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0"/>
          <p:cNvSpPr/>
          <p:nvPr/>
        </p:nvSpPr>
        <p:spPr>
          <a:xfrm>
            <a:off x="365760" y="1655064"/>
            <a:ext cx="8412480" cy="685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502920" y="1764792"/>
            <a:ext cx="384048" cy="38404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502920" y="179222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1005840" y="17465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MQTT Broker-IP setzen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1005840" y="2039112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#define MQTT_ADDR_URL "mqtt://192.168.X.X"  →  mqtt_pub_sub.h </a:t>
            </a:r>
            <a:r>
              <a:rPr i="1"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(auch an alle ESP-Projekte)</a:t>
            </a:r>
            <a:endParaRPr i="1"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0"/>
          <p:cNvSpPr/>
          <p:nvPr/>
        </p:nvSpPr>
        <p:spPr>
          <a:xfrm>
            <a:off x="365760" y="2441448"/>
            <a:ext cx="8412480" cy="685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0"/>
          <p:cNvSpPr/>
          <p:nvPr/>
        </p:nvSpPr>
        <p:spPr>
          <a:xfrm>
            <a:off x="502920" y="2551176"/>
            <a:ext cx="384048" cy="38404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0"/>
          <p:cNvSpPr/>
          <p:nvPr/>
        </p:nvSpPr>
        <p:spPr>
          <a:xfrm>
            <a:off x="502920" y="2578608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1005840" y="25328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ESP_Communication_Center starten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0"/>
          <p:cNvSpPr/>
          <p:nvPr/>
        </p:nvSpPr>
        <p:spPr>
          <a:xfrm>
            <a:off x="1005840" y="2825496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Warten bis Serial Monitor 'MQTT Connected' zeigt — erst dann weiter!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365760" y="3227832"/>
            <a:ext cx="8412480" cy="685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0"/>
          <p:cNvSpPr/>
          <p:nvPr/>
        </p:nvSpPr>
        <p:spPr>
          <a:xfrm>
            <a:off x="502920" y="3337560"/>
            <a:ext cx="384048" cy="38404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0"/>
          <p:cNvSpPr/>
          <p:nvPr/>
        </p:nvSpPr>
        <p:spPr>
          <a:xfrm>
            <a:off x="502920" y="3364992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1005840" y="33192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ESP_Sensors_Actuators flashen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1005840" y="3611880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Indoor + Outdoor ESP32 Nodes starten — nach MQTT Connected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365760" y="4014216"/>
            <a:ext cx="8412480" cy="685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0"/>
          <p:cNvSpPr/>
          <p:nvPr/>
        </p:nvSpPr>
        <p:spPr>
          <a:xfrm>
            <a:off x="502920" y="4123944"/>
            <a:ext cx="384048" cy="384048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0"/>
          <p:cNvSpPr/>
          <p:nvPr/>
        </p:nvSpPr>
        <p:spPr>
          <a:xfrm>
            <a:off x="502920" y="4151376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1005840" y="41056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Frontend starten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1005840" y="4398264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ESP32_IP setzen in server.js  →  npm install express  →  node server.js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0"/>
          <p:cNvSpPr/>
          <p:nvPr/>
        </p:nvSpPr>
        <p:spPr>
          <a:xfrm>
            <a:off x="365760" y="4818888"/>
            <a:ext cx="8412480" cy="219456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0"/>
          <p:cNvSpPr/>
          <p:nvPr/>
        </p:nvSpPr>
        <p:spPr>
          <a:xfrm>
            <a:off x="548640" y="4846320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!  Sensoren &amp; Frontend NIEMALS vor 'MQTT Connected' starten — sonst keine MQTT-Verbindung möglich!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17468b8ec_0_16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d17468b8ec_0_162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d17468b8ec_0_162"/>
          <p:cNvSpPr/>
          <p:nvPr/>
        </p:nvSpPr>
        <p:spPr>
          <a:xfrm>
            <a:off x="256032" y="45720"/>
            <a:ext cx="594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Ergebnisse &amp; Verkabelung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d17468b8ec_0_162"/>
          <p:cNvSpPr/>
          <p:nvPr/>
        </p:nvSpPr>
        <p:spPr>
          <a:xfrm>
            <a:off x="6217920" y="45720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Testergebnisse aus der Validierungsphase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d17468b8ec_0_162"/>
          <p:cNvSpPr/>
          <p:nvPr/>
        </p:nvSpPr>
        <p:spPr>
          <a:xfrm>
            <a:off x="274320" y="804672"/>
            <a:ext cx="2788800" cy="3474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d17468b8ec_0_162"/>
          <p:cNvSpPr/>
          <p:nvPr/>
        </p:nvSpPr>
        <p:spPr>
          <a:xfrm>
            <a:off x="365760" y="850392"/>
            <a:ext cx="260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d17468b8ec_0_162"/>
          <p:cNvSpPr/>
          <p:nvPr/>
        </p:nvSpPr>
        <p:spPr>
          <a:xfrm>
            <a:off x="274320" y="1188720"/>
            <a:ext cx="2788800" cy="2176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d17468b8ec_0_162"/>
          <p:cNvSpPr/>
          <p:nvPr/>
        </p:nvSpPr>
        <p:spPr>
          <a:xfrm>
            <a:off x="411480" y="1298448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Befehlsempfang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d17468b8ec_0_162"/>
          <p:cNvSpPr/>
          <p:nvPr/>
        </p:nvSpPr>
        <p:spPr>
          <a:xfrm>
            <a:off x="411480" y="1499616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100–200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d17468b8ec_0_162"/>
          <p:cNvSpPr/>
          <p:nvPr/>
        </p:nvSpPr>
        <p:spPr>
          <a:xfrm>
            <a:off x="411480" y="1737360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d17468b8ec_0_162"/>
          <p:cNvSpPr/>
          <p:nvPr/>
        </p:nvSpPr>
        <p:spPr>
          <a:xfrm>
            <a:off x="411480" y="1792224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Servo-Reaktion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d17468b8ec_0_162"/>
          <p:cNvSpPr/>
          <p:nvPr/>
        </p:nvSpPr>
        <p:spPr>
          <a:xfrm>
            <a:off x="411480" y="1993392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Ø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d17468b8ec_0_162"/>
          <p:cNvSpPr/>
          <p:nvPr/>
        </p:nvSpPr>
        <p:spPr>
          <a:xfrm>
            <a:off x="411480" y="2231136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d17468b8ec_0_162"/>
          <p:cNvSpPr/>
          <p:nvPr/>
        </p:nvSpPr>
        <p:spPr>
          <a:xfrm>
            <a:off x="411480" y="228600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Ventilator-Schutz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d17468b8ec_0_162"/>
          <p:cNvSpPr/>
          <p:nvPr/>
        </p:nvSpPr>
        <p:spPr>
          <a:xfrm>
            <a:off x="411480" y="2487168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aktiv (kein Start bei geschl. Fenster)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d17468b8ec_0_162"/>
          <p:cNvSpPr/>
          <p:nvPr/>
        </p:nvSpPr>
        <p:spPr>
          <a:xfrm>
            <a:off x="411480" y="2724912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d17468b8ec_0_162"/>
          <p:cNvSpPr/>
          <p:nvPr/>
        </p:nvSpPr>
        <p:spPr>
          <a:xfrm>
            <a:off x="411480" y="2779776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Bewertung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d17468b8ec_0_162"/>
          <p:cNvSpPr/>
          <p:nvPr/>
        </p:nvSpPr>
        <p:spPr>
          <a:xfrm>
            <a:off x="411480" y="2980944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Alle manuellen Befehle fehlerfrei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d17468b8ec_0_162"/>
          <p:cNvSpPr/>
          <p:nvPr/>
        </p:nvSpPr>
        <p:spPr>
          <a:xfrm>
            <a:off x="3172968" y="804672"/>
            <a:ext cx="2788800" cy="3474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d17468b8ec_0_162"/>
          <p:cNvSpPr/>
          <p:nvPr/>
        </p:nvSpPr>
        <p:spPr>
          <a:xfrm>
            <a:off x="3264408" y="850392"/>
            <a:ext cx="260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ECO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d17468b8ec_0_162"/>
          <p:cNvSpPr/>
          <p:nvPr/>
        </p:nvSpPr>
        <p:spPr>
          <a:xfrm>
            <a:off x="3172968" y="1188720"/>
            <a:ext cx="2788800" cy="2176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d17468b8ec_0_162"/>
          <p:cNvSpPr/>
          <p:nvPr/>
        </p:nvSpPr>
        <p:spPr>
          <a:xfrm>
            <a:off x="3310128" y="1298448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Fensterlogik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d17468b8ec_0_162"/>
          <p:cNvSpPr/>
          <p:nvPr/>
        </p:nvSpPr>
        <p:spPr>
          <a:xfrm>
            <a:off x="3310128" y="1499616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100% korrekt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d17468b8ec_0_162"/>
          <p:cNvSpPr/>
          <p:nvPr/>
        </p:nvSpPr>
        <p:spPr>
          <a:xfrm>
            <a:off x="3310128" y="1737360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d17468b8ec_0_162"/>
          <p:cNvSpPr/>
          <p:nvPr/>
        </p:nvSpPr>
        <p:spPr>
          <a:xfrm>
            <a:off x="3310128" y="1792224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lang="en-US" sz="9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fter-Reduktion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d17468b8ec_0_162"/>
          <p:cNvSpPr/>
          <p:nvPr/>
        </p:nvSpPr>
        <p:spPr>
          <a:xfrm>
            <a:off x="3310128" y="1993392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40% weniger Betriebszeit vs. Best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d17468b8ec_0_162"/>
          <p:cNvSpPr/>
          <p:nvPr/>
        </p:nvSpPr>
        <p:spPr>
          <a:xfrm>
            <a:off x="3310128" y="2231136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d17468b8ec_0_162"/>
          <p:cNvSpPr/>
          <p:nvPr/>
        </p:nvSpPr>
        <p:spPr>
          <a:xfrm>
            <a:off x="3310128" y="228600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Energieverbrauch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d17468b8ec_0_162"/>
          <p:cNvSpPr/>
          <p:nvPr/>
        </p:nvSpPr>
        <p:spPr>
          <a:xfrm>
            <a:off x="3310128" y="2487168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ca. 35% weniger als Auto Best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d17468b8ec_0_162"/>
          <p:cNvSpPr/>
          <p:nvPr/>
        </p:nvSpPr>
        <p:spPr>
          <a:xfrm>
            <a:off x="3310128" y="2724912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d17468b8ec_0_162"/>
          <p:cNvSpPr/>
          <p:nvPr/>
        </p:nvSpPr>
        <p:spPr>
          <a:xfrm>
            <a:off x="3310128" y="2779776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Bewertung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d17468b8ec_0_162"/>
          <p:cNvSpPr/>
          <p:nvPr/>
        </p:nvSpPr>
        <p:spPr>
          <a:xfrm>
            <a:off x="3310128" y="2980944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Anforderungen vollständig erfüllt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d17468b8ec_0_162"/>
          <p:cNvSpPr/>
          <p:nvPr/>
        </p:nvSpPr>
        <p:spPr>
          <a:xfrm>
            <a:off x="6071616" y="804672"/>
            <a:ext cx="2788800" cy="3474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d17468b8ec_0_162"/>
          <p:cNvSpPr/>
          <p:nvPr/>
        </p:nvSpPr>
        <p:spPr>
          <a:xfrm>
            <a:off x="6163056" y="850392"/>
            <a:ext cx="2606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BEST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d17468b8ec_0_162"/>
          <p:cNvSpPr/>
          <p:nvPr/>
        </p:nvSpPr>
        <p:spPr>
          <a:xfrm>
            <a:off x="6071616" y="1188720"/>
            <a:ext cx="2788800" cy="2176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d17468b8ec_0_162"/>
          <p:cNvSpPr/>
          <p:nvPr/>
        </p:nvSpPr>
        <p:spPr>
          <a:xfrm>
            <a:off x="6208776" y="1298448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Fensterlogik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d17468b8ec_0_162"/>
          <p:cNvSpPr/>
          <p:nvPr/>
        </p:nvSpPr>
        <p:spPr>
          <a:xfrm>
            <a:off x="6208776" y="1499616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100% korrekt (AQ-Pr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d17468b8ec_0_162"/>
          <p:cNvSpPr/>
          <p:nvPr/>
        </p:nvSpPr>
        <p:spPr>
          <a:xfrm>
            <a:off x="6208776" y="1737360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d17468b8ec_0_162"/>
          <p:cNvSpPr/>
          <p:nvPr/>
        </p:nvSpPr>
        <p:spPr>
          <a:xfrm>
            <a:off x="6208776" y="1792224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Feuchtigkeitssenkung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d17468b8ec_0_162"/>
          <p:cNvSpPr/>
          <p:nvPr/>
        </p:nvSpPr>
        <p:spPr>
          <a:xfrm>
            <a:off x="6208776" y="1993392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15% schneller als ECO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d17468b8ec_0_162"/>
          <p:cNvSpPr/>
          <p:nvPr/>
        </p:nvSpPr>
        <p:spPr>
          <a:xfrm>
            <a:off x="6208776" y="2231136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d17468b8ec_0_162"/>
          <p:cNvSpPr/>
          <p:nvPr/>
        </p:nvSpPr>
        <p:spPr>
          <a:xfrm>
            <a:off x="6208776" y="2286000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Absorber-Reaktion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d17468b8ec_0_162"/>
          <p:cNvSpPr/>
          <p:nvPr/>
        </p:nvSpPr>
        <p:spPr>
          <a:xfrm>
            <a:off x="6208776" y="2487168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92% innerhalb 30 Sek.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d17468b8ec_0_162"/>
          <p:cNvSpPr/>
          <p:nvPr/>
        </p:nvSpPr>
        <p:spPr>
          <a:xfrm>
            <a:off x="6208776" y="2724912"/>
            <a:ext cx="2514600" cy="9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d17468b8ec_0_162"/>
          <p:cNvSpPr/>
          <p:nvPr/>
        </p:nvSpPr>
        <p:spPr>
          <a:xfrm>
            <a:off x="6208776" y="2779776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Bewertung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d17468b8ec_0_162"/>
          <p:cNvSpPr/>
          <p:nvPr/>
        </p:nvSpPr>
        <p:spPr>
          <a:xfrm>
            <a:off x="6208776" y="2980944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Optimale Luftqualität erreicht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d17468b8ec_0_162"/>
          <p:cNvSpPr/>
          <p:nvPr/>
        </p:nvSpPr>
        <p:spPr>
          <a:xfrm>
            <a:off x="274320" y="349300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System &amp; Sensoren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d17468b8ec_0_162"/>
          <p:cNvSpPr/>
          <p:nvPr/>
        </p:nvSpPr>
        <p:spPr>
          <a:xfrm>
            <a:off x="4572000" y="349300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Kommunikation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d17468b8ec_0_162"/>
          <p:cNvSpPr/>
          <p:nvPr/>
        </p:nvSpPr>
        <p:spPr>
          <a:xfrm>
            <a:off x="274320" y="3785616"/>
            <a:ext cx="3977700" cy="1225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d17468b8ec_0_162"/>
          <p:cNvSpPr/>
          <p:nvPr/>
        </p:nvSpPr>
        <p:spPr>
          <a:xfrm>
            <a:off x="274320" y="3785616"/>
            <a:ext cx="45600" cy="12252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d17468b8ec_0_162"/>
          <p:cNvSpPr/>
          <p:nvPr/>
        </p:nvSpPr>
        <p:spPr>
          <a:xfrm>
            <a:off x="457200" y="3858768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BME680 Genauigkeit: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d17468b8ec_0_162"/>
          <p:cNvSpPr/>
          <p:nvPr/>
        </p:nvSpPr>
        <p:spPr>
          <a:xfrm>
            <a:off x="1938528" y="385876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±3% Feuchte,  ±0.5°C Temperatur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d17468b8ec_0_162"/>
          <p:cNvSpPr/>
          <p:nvPr/>
        </p:nvSpPr>
        <p:spPr>
          <a:xfrm>
            <a:off x="457200" y="4133088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Anemometer: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d17468b8ec_0_162"/>
          <p:cNvSpPr/>
          <p:nvPr/>
        </p:nvSpPr>
        <p:spPr>
          <a:xfrm>
            <a:off x="1938528" y="413308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Ausreißer in </a:t>
            </a: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%— Schaltungsfehler behoben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d17468b8ec_0_162"/>
          <p:cNvSpPr/>
          <p:nvPr/>
        </p:nvSpPr>
        <p:spPr>
          <a:xfrm>
            <a:off x="457200" y="4407408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Sensor-Update: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d17468b8ec_0_162"/>
          <p:cNvSpPr/>
          <p:nvPr/>
        </p:nvSpPr>
        <p:spPr>
          <a:xfrm>
            <a:off x="1938528" y="440740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BME680 alle 10 ms via MQTT übertragen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d17468b8ec_0_162"/>
          <p:cNvSpPr/>
          <p:nvPr/>
        </p:nvSpPr>
        <p:spPr>
          <a:xfrm>
            <a:off x="457200" y="4681728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Modumschalten: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d17468b8ec_0_162"/>
          <p:cNvSpPr/>
          <p:nvPr/>
        </p:nvSpPr>
        <p:spPr>
          <a:xfrm>
            <a:off x="1938528" y="468172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Nahtlos — kein Systemausfall beobachtet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d17468b8ec_0_162"/>
          <p:cNvSpPr/>
          <p:nvPr/>
        </p:nvSpPr>
        <p:spPr>
          <a:xfrm>
            <a:off x="4572000" y="3785616"/>
            <a:ext cx="3977700" cy="1225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d17468b8ec_0_162"/>
          <p:cNvSpPr/>
          <p:nvPr/>
        </p:nvSpPr>
        <p:spPr>
          <a:xfrm>
            <a:off x="4572000" y="3785616"/>
            <a:ext cx="45600" cy="12252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d17468b8ec_0_162"/>
          <p:cNvSpPr/>
          <p:nvPr/>
        </p:nvSpPr>
        <p:spPr>
          <a:xfrm>
            <a:off x="4754880" y="3858768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MQTT Uptime: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d17468b8ec_0_162"/>
          <p:cNvSpPr/>
          <p:nvPr/>
        </p:nvSpPr>
        <p:spPr>
          <a:xfrm>
            <a:off x="6236208" y="385876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99.9%</a:t>
            </a: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über 1 Stunde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d17468b8ec_0_162"/>
          <p:cNvSpPr/>
          <p:nvPr/>
        </p:nvSpPr>
        <p:spPr>
          <a:xfrm>
            <a:off x="4754880" y="4133088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MQTT Durchsatz: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d17468b8ec_0_162"/>
          <p:cNvSpPr/>
          <p:nvPr/>
        </p:nvSpPr>
        <p:spPr>
          <a:xfrm>
            <a:off x="6236208" y="413308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Nachricht / Sek. (Anemometer)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d17468b8ec_0_162"/>
          <p:cNvSpPr/>
          <p:nvPr/>
        </p:nvSpPr>
        <p:spPr>
          <a:xfrm>
            <a:off x="4754880" y="4407408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HTTP Antwortzeit: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d17468b8ec_0_162"/>
          <p:cNvSpPr/>
          <p:nvPr/>
        </p:nvSpPr>
        <p:spPr>
          <a:xfrm>
            <a:off x="6236208" y="440740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Ø </a:t>
            </a: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 ms (Node.js → ESP32)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d17468b8ec_0_162"/>
          <p:cNvSpPr/>
          <p:nvPr/>
        </p:nvSpPr>
        <p:spPr>
          <a:xfrm>
            <a:off x="4754880" y="4681728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Datenkonsistenz: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d17468b8ec_0_162"/>
          <p:cNvSpPr/>
          <p:nvPr/>
        </p:nvSpPr>
        <p:spPr>
          <a:xfrm>
            <a:off x="6236208" y="4681728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Keine Inkonsistenz zwischen den 3 ESP32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17468b8ec_0_23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d17468b8ec_0_236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d17468b8ec_0_236"/>
          <p:cNvSpPr/>
          <p:nvPr/>
        </p:nvSpPr>
        <p:spPr>
          <a:xfrm>
            <a:off x="256032" y="45720"/>
            <a:ext cx="594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Projektmanagement — GitHub Roadmap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d17468b8ec_0_236"/>
          <p:cNvSpPr/>
          <p:nvPr/>
        </p:nvSpPr>
        <p:spPr>
          <a:xfrm>
            <a:off x="6217920" y="45720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Agile Entwicklung · 5 Phasen · 41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d17468b8ec_0_236"/>
          <p:cNvSpPr/>
          <p:nvPr/>
        </p:nvSpPr>
        <p:spPr>
          <a:xfrm>
            <a:off x="649345" y="809197"/>
            <a:ext cx="1874400" cy="640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d17468b8ec_0_236"/>
          <p:cNvSpPr/>
          <p:nvPr/>
        </p:nvSpPr>
        <p:spPr>
          <a:xfrm>
            <a:off x="649345" y="809197"/>
            <a:ext cx="1874400" cy="36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d17468b8ec_0_236"/>
          <p:cNvSpPr/>
          <p:nvPr/>
        </p:nvSpPr>
        <p:spPr>
          <a:xfrm>
            <a:off x="740785" y="900637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d17468b8ec_0_236"/>
          <p:cNvSpPr/>
          <p:nvPr/>
        </p:nvSpPr>
        <p:spPr>
          <a:xfrm>
            <a:off x="740785" y="1101805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Validierung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d17468b8ec_0_236"/>
          <p:cNvSpPr/>
          <p:nvPr/>
        </p:nvSpPr>
        <p:spPr>
          <a:xfrm>
            <a:off x="2706745" y="809197"/>
            <a:ext cx="1874400" cy="640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d17468b8ec_0_236"/>
          <p:cNvSpPr/>
          <p:nvPr/>
        </p:nvSpPr>
        <p:spPr>
          <a:xfrm>
            <a:off x="2706745" y="809197"/>
            <a:ext cx="1874400" cy="36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d17468b8ec_0_236"/>
          <p:cNvSpPr/>
          <p:nvPr/>
        </p:nvSpPr>
        <p:spPr>
          <a:xfrm>
            <a:off x="2798185" y="900637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d17468b8ec_0_236"/>
          <p:cNvSpPr/>
          <p:nvPr/>
        </p:nvSpPr>
        <p:spPr>
          <a:xfrm>
            <a:off x="2798185" y="1101805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Kommunikation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&amp; Integration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d17468b8ec_0_236"/>
          <p:cNvSpPr/>
          <p:nvPr/>
        </p:nvSpPr>
        <p:spPr>
          <a:xfrm>
            <a:off x="4764145" y="809197"/>
            <a:ext cx="1874400" cy="640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d17468b8ec_0_236"/>
          <p:cNvSpPr/>
          <p:nvPr/>
        </p:nvSpPr>
        <p:spPr>
          <a:xfrm>
            <a:off x="4764145" y="809197"/>
            <a:ext cx="1874400" cy="36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d17468b8ec_0_236"/>
          <p:cNvSpPr/>
          <p:nvPr/>
        </p:nvSpPr>
        <p:spPr>
          <a:xfrm>
            <a:off x="4855585" y="900637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d17468b8ec_0_236"/>
          <p:cNvSpPr/>
          <p:nvPr/>
        </p:nvSpPr>
        <p:spPr>
          <a:xfrm>
            <a:off x="4855585" y="1101805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Miniatur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Konstruktion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d17468b8ec_0_236"/>
          <p:cNvSpPr/>
          <p:nvPr/>
        </p:nvSpPr>
        <p:spPr>
          <a:xfrm>
            <a:off x="6821545" y="809197"/>
            <a:ext cx="1874400" cy="640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d17468b8ec_0_236"/>
          <p:cNvSpPr/>
          <p:nvPr/>
        </p:nvSpPr>
        <p:spPr>
          <a:xfrm>
            <a:off x="6821545" y="809197"/>
            <a:ext cx="1874400" cy="36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d17468b8ec_0_236"/>
          <p:cNvSpPr/>
          <p:nvPr/>
        </p:nvSpPr>
        <p:spPr>
          <a:xfrm>
            <a:off x="6912985" y="900637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d17468b8ec_0_236"/>
          <p:cNvSpPr/>
          <p:nvPr/>
        </p:nvSpPr>
        <p:spPr>
          <a:xfrm>
            <a:off x="6912985" y="1101805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WebApp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&amp; UI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8" name="Google Shape;638;g3d17468b8ec_0_2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5" y="1556793"/>
            <a:ext cx="2834640" cy="2011679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3d17468b8ec_0_236"/>
          <p:cNvSpPr/>
          <p:nvPr/>
        </p:nvSpPr>
        <p:spPr>
          <a:xfrm>
            <a:off x="3200370" y="357833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Dez</a:t>
            </a:r>
            <a:r>
              <a:rPr b="1" i="0" lang="en-US" sz="9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b="1" lang="en-US" sz="900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Jan</a:t>
            </a:r>
            <a:r>
              <a:rPr b="1" i="0" lang="en-US" sz="9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 2025: Phase 1 + 2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d17468b8ec_0_236"/>
          <p:cNvSpPr/>
          <p:nvPr/>
        </p:nvSpPr>
        <p:spPr>
          <a:xfrm>
            <a:off x="274320" y="3913632"/>
            <a:ext cx="8595300" cy="10974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d17468b8ec_0_236"/>
          <p:cNvSpPr/>
          <p:nvPr/>
        </p:nvSpPr>
        <p:spPr>
          <a:xfrm>
            <a:off x="457200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Methode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d17468b8ec_0_236"/>
          <p:cNvSpPr/>
          <p:nvPr/>
        </p:nvSpPr>
        <p:spPr>
          <a:xfrm>
            <a:off x="457200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Agile — 2-Wochen Sprints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d17468b8ec_0_236"/>
          <p:cNvSpPr/>
          <p:nvPr/>
        </p:nvSpPr>
        <p:spPr>
          <a:xfrm>
            <a:off x="2057400" y="4005072"/>
            <a:ext cx="18300" cy="8229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d17468b8ec_0_236"/>
          <p:cNvSpPr/>
          <p:nvPr/>
        </p:nvSpPr>
        <p:spPr>
          <a:xfrm>
            <a:off x="2176272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d17468b8ec_0_236"/>
          <p:cNvSpPr/>
          <p:nvPr/>
        </p:nvSpPr>
        <p:spPr>
          <a:xfrm>
            <a:off x="2176272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Projects (Kanban)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d17468b8ec_0_236"/>
          <p:cNvSpPr/>
          <p:nvPr/>
        </p:nvSpPr>
        <p:spPr>
          <a:xfrm>
            <a:off x="3776472" y="4005072"/>
            <a:ext cx="18300" cy="8229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d17468b8ec_0_236"/>
          <p:cNvSpPr/>
          <p:nvPr/>
        </p:nvSpPr>
        <p:spPr>
          <a:xfrm>
            <a:off x="3895344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d17468b8ec_0_236"/>
          <p:cNvSpPr/>
          <p:nvPr/>
        </p:nvSpPr>
        <p:spPr>
          <a:xfrm>
            <a:off x="3895344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Personen, verteilte Rollen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d17468b8ec_0_236"/>
          <p:cNvSpPr/>
          <p:nvPr/>
        </p:nvSpPr>
        <p:spPr>
          <a:xfrm>
            <a:off x="5495544" y="4005072"/>
            <a:ext cx="18300" cy="8229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d17468b8ec_0_236"/>
          <p:cNvSpPr/>
          <p:nvPr/>
        </p:nvSpPr>
        <p:spPr>
          <a:xfrm>
            <a:off x="5614416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3d17468b8ec_0_236"/>
          <p:cNvSpPr/>
          <p:nvPr/>
        </p:nvSpPr>
        <p:spPr>
          <a:xfrm>
            <a:off x="5614416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41 Issues, alle geschlossen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d17468b8ec_0_236"/>
          <p:cNvSpPr/>
          <p:nvPr/>
        </p:nvSpPr>
        <p:spPr>
          <a:xfrm>
            <a:off x="7214616" y="4005072"/>
            <a:ext cx="18300" cy="8229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d17468b8ec_0_236"/>
          <p:cNvSpPr/>
          <p:nvPr/>
        </p:nvSpPr>
        <p:spPr>
          <a:xfrm>
            <a:off x="7333488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Prinzip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d17468b8ec_0_236"/>
          <p:cNvSpPr/>
          <p:nvPr/>
        </p:nvSpPr>
        <p:spPr>
          <a:xfrm>
            <a:off x="7333488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Erst einzeln testen, dann integrieren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5" name="Google Shape;655;g3d17468b8ec_0_236" title="Screenshot 2026-03-20 at 23.38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9476" y="1645473"/>
            <a:ext cx="5943599" cy="17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d17468b8ec_0_28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d17468b8ec_0_284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d17468b8ec_0_284"/>
          <p:cNvSpPr/>
          <p:nvPr/>
        </p:nvSpPr>
        <p:spPr>
          <a:xfrm>
            <a:off x="256032" y="45720"/>
            <a:ext cx="594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Projektmanagement — GitHub Roadmap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d17468b8ec_0_284"/>
          <p:cNvSpPr/>
          <p:nvPr/>
        </p:nvSpPr>
        <p:spPr>
          <a:xfrm>
            <a:off x="6217920" y="45720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Agile Entwicklung · 5 Phasen · 41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d17468b8ec_0_284"/>
          <p:cNvSpPr/>
          <p:nvPr/>
        </p:nvSpPr>
        <p:spPr>
          <a:xfrm>
            <a:off x="649345" y="809197"/>
            <a:ext cx="1874400" cy="640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d17468b8ec_0_284"/>
          <p:cNvSpPr/>
          <p:nvPr/>
        </p:nvSpPr>
        <p:spPr>
          <a:xfrm>
            <a:off x="649345" y="809197"/>
            <a:ext cx="1874400" cy="366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d17468b8ec_0_284"/>
          <p:cNvSpPr/>
          <p:nvPr/>
        </p:nvSpPr>
        <p:spPr>
          <a:xfrm>
            <a:off x="740785" y="900637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d17468b8ec_0_284"/>
          <p:cNvSpPr/>
          <p:nvPr/>
        </p:nvSpPr>
        <p:spPr>
          <a:xfrm>
            <a:off x="740785" y="1101805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Validierung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d17468b8ec_0_284"/>
          <p:cNvSpPr/>
          <p:nvPr/>
        </p:nvSpPr>
        <p:spPr>
          <a:xfrm>
            <a:off x="2706745" y="809197"/>
            <a:ext cx="1874400" cy="640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d17468b8ec_0_284"/>
          <p:cNvSpPr/>
          <p:nvPr/>
        </p:nvSpPr>
        <p:spPr>
          <a:xfrm>
            <a:off x="2706745" y="809197"/>
            <a:ext cx="1874400" cy="366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d17468b8ec_0_284"/>
          <p:cNvSpPr/>
          <p:nvPr/>
        </p:nvSpPr>
        <p:spPr>
          <a:xfrm>
            <a:off x="2798185" y="900637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3d17468b8ec_0_284"/>
          <p:cNvSpPr/>
          <p:nvPr/>
        </p:nvSpPr>
        <p:spPr>
          <a:xfrm>
            <a:off x="2798185" y="1101805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Kommunikation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&amp; Integration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g3d17468b8ec_0_284"/>
          <p:cNvSpPr/>
          <p:nvPr/>
        </p:nvSpPr>
        <p:spPr>
          <a:xfrm>
            <a:off x="4764145" y="809197"/>
            <a:ext cx="1874400" cy="640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d17468b8ec_0_284"/>
          <p:cNvSpPr/>
          <p:nvPr/>
        </p:nvSpPr>
        <p:spPr>
          <a:xfrm>
            <a:off x="4764145" y="809197"/>
            <a:ext cx="1874400" cy="36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d17468b8ec_0_284"/>
          <p:cNvSpPr/>
          <p:nvPr/>
        </p:nvSpPr>
        <p:spPr>
          <a:xfrm>
            <a:off x="4855585" y="900637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3d17468b8ec_0_284"/>
          <p:cNvSpPr/>
          <p:nvPr/>
        </p:nvSpPr>
        <p:spPr>
          <a:xfrm>
            <a:off x="4855585" y="1101805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Miniatur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Konstruktion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d17468b8ec_0_284"/>
          <p:cNvSpPr/>
          <p:nvPr/>
        </p:nvSpPr>
        <p:spPr>
          <a:xfrm>
            <a:off x="6821545" y="809197"/>
            <a:ext cx="1874400" cy="640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d17468b8ec_0_284"/>
          <p:cNvSpPr/>
          <p:nvPr/>
        </p:nvSpPr>
        <p:spPr>
          <a:xfrm>
            <a:off x="6821545" y="809197"/>
            <a:ext cx="1874400" cy="36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d17468b8ec_0_284"/>
          <p:cNvSpPr/>
          <p:nvPr/>
        </p:nvSpPr>
        <p:spPr>
          <a:xfrm>
            <a:off x="6912985" y="900637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d17468b8ec_0_284"/>
          <p:cNvSpPr/>
          <p:nvPr/>
        </p:nvSpPr>
        <p:spPr>
          <a:xfrm>
            <a:off x="6912985" y="1101805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WebApp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&amp; UI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1" name="Google Shape;681;g3d17468b8ec_0_2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34" y="1553313"/>
            <a:ext cx="3076915" cy="225639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g3d17468b8ec_0_284"/>
          <p:cNvSpPr/>
          <p:nvPr/>
        </p:nvSpPr>
        <p:spPr>
          <a:xfrm>
            <a:off x="3985818" y="364838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März</a:t>
            </a: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b="1" lang="en-US" sz="9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April</a:t>
            </a: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2026: Phase 2 + 3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d17468b8ec_0_284"/>
          <p:cNvSpPr/>
          <p:nvPr/>
        </p:nvSpPr>
        <p:spPr>
          <a:xfrm>
            <a:off x="274320" y="3913632"/>
            <a:ext cx="8595300" cy="10974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d17468b8ec_0_284"/>
          <p:cNvSpPr/>
          <p:nvPr/>
        </p:nvSpPr>
        <p:spPr>
          <a:xfrm>
            <a:off x="457200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Methode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3d17468b8ec_0_284"/>
          <p:cNvSpPr/>
          <p:nvPr/>
        </p:nvSpPr>
        <p:spPr>
          <a:xfrm>
            <a:off x="457200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Agile — 2-Wochen Sprints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d17468b8ec_0_284"/>
          <p:cNvSpPr/>
          <p:nvPr/>
        </p:nvSpPr>
        <p:spPr>
          <a:xfrm>
            <a:off x="2057400" y="4005072"/>
            <a:ext cx="18300" cy="8229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d17468b8ec_0_284"/>
          <p:cNvSpPr/>
          <p:nvPr/>
        </p:nvSpPr>
        <p:spPr>
          <a:xfrm>
            <a:off x="2176272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d17468b8ec_0_284"/>
          <p:cNvSpPr/>
          <p:nvPr/>
        </p:nvSpPr>
        <p:spPr>
          <a:xfrm>
            <a:off x="2176272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Projects (Kanban)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d17468b8ec_0_284"/>
          <p:cNvSpPr/>
          <p:nvPr/>
        </p:nvSpPr>
        <p:spPr>
          <a:xfrm>
            <a:off x="3776472" y="4005072"/>
            <a:ext cx="18300" cy="8229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d17468b8ec_0_284"/>
          <p:cNvSpPr/>
          <p:nvPr/>
        </p:nvSpPr>
        <p:spPr>
          <a:xfrm>
            <a:off x="3895344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3d17468b8ec_0_284"/>
          <p:cNvSpPr/>
          <p:nvPr/>
        </p:nvSpPr>
        <p:spPr>
          <a:xfrm>
            <a:off x="3895344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Personen, verteilte Rollen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d17468b8ec_0_284"/>
          <p:cNvSpPr/>
          <p:nvPr/>
        </p:nvSpPr>
        <p:spPr>
          <a:xfrm>
            <a:off x="5495544" y="4005072"/>
            <a:ext cx="18300" cy="8229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d17468b8ec_0_284"/>
          <p:cNvSpPr/>
          <p:nvPr/>
        </p:nvSpPr>
        <p:spPr>
          <a:xfrm>
            <a:off x="5614416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g3d17468b8ec_0_284"/>
          <p:cNvSpPr/>
          <p:nvPr/>
        </p:nvSpPr>
        <p:spPr>
          <a:xfrm>
            <a:off x="5614416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41 Issues, alle geschlossen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d17468b8ec_0_284"/>
          <p:cNvSpPr/>
          <p:nvPr/>
        </p:nvSpPr>
        <p:spPr>
          <a:xfrm>
            <a:off x="7214616" y="4005072"/>
            <a:ext cx="18300" cy="8229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d17468b8ec_0_284"/>
          <p:cNvSpPr/>
          <p:nvPr/>
        </p:nvSpPr>
        <p:spPr>
          <a:xfrm>
            <a:off x="7333488" y="4023360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Prinzip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d17468b8ec_0_284"/>
          <p:cNvSpPr/>
          <p:nvPr/>
        </p:nvSpPr>
        <p:spPr>
          <a:xfrm>
            <a:off x="7333488" y="4261104"/>
            <a:ext cx="155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Erst einzeln testen, dann integrieren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g3d17468b8ec_0_284" title="Screenshot 2026-03-20 at 23.40.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0875" y="3017425"/>
            <a:ext cx="5038289" cy="5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d063f4484a_0_8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d063f4484a_0_87"/>
          <p:cNvSpPr/>
          <p:nvPr/>
        </p:nvSpPr>
        <p:spPr>
          <a:xfrm>
            <a:off x="0" y="0"/>
            <a:ext cx="109800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d063f4484a_0_87"/>
          <p:cNvSpPr/>
          <p:nvPr/>
        </p:nvSpPr>
        <p:spPr>
          <a:xfrm>
            <a:off x="256032" y="45720"/>
            <a:ext cx="868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Herausforderungen &amp; Learnings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d063f4484a_0_87"/>
          <p:cNvSpPr/>
          <p:nvPr/>
        </p:nvSpPr>
        <p:spPr>
          <a:xfrm>
            <a:off x="320040" y="868680"/>
            <a:ext cx="4206300" cy="1261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d063f4484a_0_87"/>
          <p:cNvSpPr/>
          <p:nvPr/>
        </p:nvSpPr>
        <p:spPr>
          <a:xfrm>
            <a:off x="320040" y="868680"/>
            <a:ext cx="45600" cy="12618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d063f4484a_0_87"/>
          <p:cNvSpPr/>
          <p:nvPr/>
        </p:nvSpPr>
        <p:spPr>
          <a:xfrm>
            <a:off x="502920" y="96012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Anemometer-Signal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d063f4484a_0_87"/>
          <p:cNvSpPr/>
          <p:nvPr/>
        </p:nvSpPr>
        <p:spPr>
          <a:xfrm>
            <a:off x="502920" y="1271016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Problem: Sensor las Werte falsch — zu schnelle Impulse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d063f4484a_0_87"/>
          <p:cNvSpPr/>
          <p:nvPr/>
        </p:nvSpPr>
        <p:spPr>
          <a:xfrm>
            <a:off x="502920" y="1563624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Schaltung neu gebaut, Oszilloskop-Analyse: 5V VCC nötig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d063f4484a_0_87"/>
          <p:cNvSpPr/>
          <p:nvPr/>
        </p:nvSpPr>
        <p:spPr>
          <a:xfrm>
            <a:off x="4663440" y="868680"/>
            <a:ext cx="4206300" cy="1261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d063f4484a_0_87"/>
          <p:cNvSpPr/>
          <p:nvPr/>
        </p:nvSpPr>
        <p:spPr>
          <a:xfrm>
            <a:off x="4663440" y="868680"/>
            <a:ext cx="45600" cy="1261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3d063f4484a_0_87"/>
          <p:cNvSpPr/>
          <p:nvPr/>
        </p:nvSpPr>
        <p:spPr>
          <a:xfrm>
            <a:off x="4846320" y="96012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Flash-Speicher voll (90%)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g3d063f4484a_0_87"/>
          <p:cNvSpPr/>
          <p:nvPr/>
        </p:nvSpPr>
        <p:spPr>
          <a:xfrm>
            <a:off x="4846320" y="1271016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Problem: MQTT + HTTPS-Server belegten 90% des Flash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g3d063f4484a_0_87"/>
          <p:cNvSpPr/>
          <p:nvPr/>
        </p:nvSpPr>
        <p:spPr>
          <a:xfrm>
            <a:off x="4846320" y="1563624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partitions_4mb.csv Partitionstabelle hinzugefügt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g3d063f4484a_0_87"/>
          <p:cNvSpPr/>
          <p:nvPr/>
        </p:nvSpPr>
        <p:spPr>
          <a:xfrm>
            <a:off x="4663440" y="2258568"/>
            <a:ext cx="4206300" cy="1261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d063f4484a_0_87"/>
          <p:cNvSpPr/>
          <p:nvPr/>
        </p:nvSpPr>
        <p:spPr>
          <a:xfrm>
            <a:off x="4663440" y="2258568"/>
            <a:ext cx="45600" cy="1261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d063f4484a_0_87"/>
          <p:cNvSpPr/>
          <p:nvPr/>
        </p:nvSpPr>
        <p:spPr>
          <a:xfrm>
            <a:off x="4846320" y="2350008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MQTT Broker IP instabil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3d063f4484a_0_87"/>
          <p:cNvSpPr/>
          <p:nvPr/>
        </p:nvSpPr>
        <p:spPr>
          <a:xfrm>
            <a:off x="4846320" y="266090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Problem: IP-Adresse wechselte je nach Router/Neustart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g3d063f4484a_0_87"/>
          <p:cNvSpPr/>
          <p:nvPr/>
        </p:nvSpPr>
        <p:spPr>
          <a:xfrm>
            <a:off x="4846320" y="2953512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DHCP-Reservation im Router konfiguriert — getestet mit </a:t>
            </a:r>
            <a:r>
              <a:rPr lang="en-US" sz="1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Heim Wlan</a:t>
            </a:r>
            <a:r>
              <a:rPr b="0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&amp; TP-Link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d063f4484a_0_87"/>
          <p:cNvSpPr/>
          <p:nvPr/>
        </p:nvSpPr>
        <p:spPr>
          <a:xfrm>
            <a:off x="4663465" y="3648481"/>
            <a:ext cx="4206300" cy="1261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d063f4484a_0_87"/>
          <p:cNvSpPr/>
          <p:nvPr/>
        </p:nvSpPr>
        <p:spPr>
          <a:xfrm>
            <a:off x="4663465" y="3648481"/>
            <a:ext cx="45600" cy="12618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d063f4484a_0_87"/>
          <p:cNvSpPr/>
          <p:nvPr/>
        </p:nvSpPr>
        <p:spPr>
          <a:xfrm>
            <a:off x="4846345" y="3739921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Mutex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d063f4484a_0_87"/>
          <p:cNvSpPr/>
          <p:nvPr/>
        </p:nvSpPr>
        <p:spPr>
          <a:xfrm>
            <a:off x="4846345" y="4050817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Problem: Mutex-Nutzung im RTOS-Code unklar / überoptimiert?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d063f4484a_0_87"/>
          <p:cNvSpPr/>
          <p:nvPr/>
        </p:nvSpPr>
        <p:spPr>
          <a:xfrm>
            <a:off x="4846345" y="4343425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Mutex behalten — Umschaltung ~200 ms, kein Funktionsfehler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d063f4484a_0_87"/>
          <p:cNvSpPr/>
          <p:nvPr/>
        </p:nvSpPr>
        <p:spPr>
          <a:xfrm>
            <a:off x="320065" y="2231269"/>
            <a:ext cx="4206300" cy="1261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d063f4484a_0_87"/>
          <p:cNvSpPr/>
          <p:nvPr/>
        </p:nvSpPr>
        <p:spPr>
          <a:xfrm>
            <a:off x="320065" y="2231269"/>
            <a:ext cx="45600" cy="1261800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g3d063f4484a_0_87"/>
          <p:cNvSpPr/>
          <p:nvPr/>
        </p:nvSpPr>
        <p:spPr>
          <a:xfrm>
            <a:off x="502945" y="2322709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Startup-Reihenfolge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d063f4484a_0_87"/>
          <p:cNvSpPr/>
          <p:nvPr/>
        </p:nvSpPr>
        <p:spPr>
          <a:xfrm>
            <a:off x="502945" y="2633605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Problem: Sensor-Nodes starteten vor MQTT Broker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g3d063f4484a_0_87"/>
          <p:cNvSpPr/>
          <p:nvPr/>
        </p:nvSpPr>
        <p:spPr>
          <a:xfrm>
            <a:off x="502945" y="2926213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Feste Startreihenfolge: Communication Center zuerst, dann Nodes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4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4"/>
          <p:cNvSpPr/>
          <p:nvPr/>
        </p:nvSpPr>
        <p:spPr>
          <a:xfrm>
            <a:off x="256032" y="45720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Fazit &amp; Ausblick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4"/>
          <p:cNvSpPr/>
          <p:nvPr/>
        </p:nvSpPr>
        <p:spPr>
          <a:xfrm>
            <a:off x="320040" y="822960"/>
            <a:ext cx="8503920" cy="1417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4"/>
          <p:cNvSpPr/>
          <p:nvPr/>
        </p:nvSpPr>
        <p:spPr>
          <a:xfrm>
            <a:off x="320040" y="822960"/>
            <a:ext cx="8503920" cy="36576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4"/>
          <p:cNvSpPr/>
          <p:nvPr/>
        </p:nvSpPr>
        <p:spPr>
          <a:xfrm>
            <a:off x="502920" y="969264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Fazit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4"/>
          <p:cNvSpPr/>
          <p:nvPr/>
        </p:nvSpPr>
        <p:spPr>
          <a:xfrm>
            <a:off x="502925" y="1280150"/>
            <a:ext cx="8046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System voll funktionsfähig: alle 3 Modi, manuelle Steuerung und Sensorlogik einwandfrei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MQTT und HTTP-Antwortzeit stabil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Modi-Umschaltung nahtlos ohne Systemausfall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Frontend zeigt immer aktuelle Daten an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Bereit für die außenwelt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4"/>
          <p:cNvSpPr/>
          <p:nvPr/>
        </p:nvSpPr>
        <p:spPr>
          <a:xfrm>
            <a:off x="502920" y="24231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Mögliche Erweiterungen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4"/>
          <p:cNvSpPr/>
          <p:nvPr/>
        </p:nvSpPr>
        <p:spPr>
          <a:xfrm>
            <a:off x="320040" y="2788920"/>
            <a:ext cx="2651760" cy="8686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4"/>
          <p:cNvSpPr/>
          <p:nvPr/>
        </p:nvSpPr>
        <p:spPr>
          <a:xfrm>
            <a:off x="320040" y="2788920"/>
            <a:ext cx="45720" cy="8686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4"/>
          <p:cNvSpPr/>
          <p:nvPr/>
        </p:nvSpPr>
        <p:spPr>
          <a:xfrm>
            <a:off x="484632" y="28803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ML-Vorhersage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4"/>
          <p:cNvSpPr/>
          <p:nvPr/>
        </p:nvSpPr>
        <p:spPr>
          <a:xfrm>
            <a:off x="484632" y="32004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Vorhersage durch vergleichen von Werte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4"/>
          <p:cNvSpPr/>
          <p:nvPr/>
        </p:nvSpPr>
        <p:spPr>
          <a:xfrm>
            <a:off x="3182112" y="2788920"/>
            <a:ext cx="2651760" cy="8686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4"/>
          <p:cNvSpPr/>
          <p:nvPr/>
        </p:nvSpPr>
        <p:spPr>
          <a:xfrm>
            <a:off x="3182112" y="2788920"/>
            <a:ext cx="45720" cy="8686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4"/>
          <p:cNvSpPr/>
          <p:nvPr/>
        </p:nvSpPr>
        <p:spPr>
          <a:xfrm>
            <a:off x="3346704" y="28803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Mobile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4"/>
          <p:cNvSpPr/>
          <p:nvPr/>
        </p:nvSpPr>
        <p:spPr>
          <a:xfrm>
            <a:off x="3346704" y="32004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Native iOS/Android statt 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6044184" y="2788920"/>
            <a:ext cx="2651760" cy="8686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4"/>
          <p:cNvSpPr/>
          <p:nvPr/>
        </p:nvSpPr>
        <p:spPr>
          <a:xfrm>
            <a:off x="6044184" y="2788920"/>
            <a:ext cx="45720" cy="8686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4"/>
          <p:cNvSpPr/>
          <p:nvPr/>
        </p:nvSpPr>
        <p:spPr>
          <a:xfrm>
            <a:off x="6208776" y="28803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Cloud-Integration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4"/>
          <p:cNvSpPr/>
          <p:nvPr/>
        </p:nvSpPr>
        <p:spPr>
          <a:xfrm>
            <a:off x="6208776" y="32004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AWS IoT / Azure IoT 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320040" y="3794760"/>
            <a:ext cx="2651760" cy="8686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4"/>
          <p:cNvSpPr/>
          <p:nvPr/>
        </p:nvSpPr>
        <p:spPr>
          <a:xfrm>
            <a:off x="320040" y="3794760"/>
            <a:ext cx="45720" cy="8686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4"/>
          <p:cNvSpPr/>
          <p:nvPr/>
        </p:nvSpPr>
        <p:spPr>
          <a:xfrm>
            <a:off x="484632" y="38862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Push-Alerts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4"/>
          <p:cNvSpPr/>
          <p:nvPr/>
        </p:nvSpPr>
        <p:spPr>
          <a:xfrm>
            <a:off x="484632" y="42062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Benachrichtigungen bei kritischen Werten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4"/>
          <p:cNvSpPr/>
          <p:nvPr/>
        </p:nvSpPr>
        <p:spPr>
          <a:xfrm>
            <a:off x="3182112" y="3794760"/>
            <a:ext cx="2651760" cy="8686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4"/>
          <p:cNvSpPr/>
          <p:nvPr/>
        </p:nvSpPr>
        <p:spPr>
          <a:xfrm>
            <a:off x="3182112" y="3794760"/>
            <a:ext cx="45720" cy="8686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4"/>
          <p:cNvSpPr/>
          <p:nvPr/>
        </p:nvSpPr>
        <p:spPr>
          <a:xfrm>
            <a:off x="3346704" y="38862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Smart Home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4"/>
          <p:cNvSpPr/>
          <p:nvPr/>
        </p:nvSpPr>
        <p:spPr>
          <a:xfrm>
            <a:off x="3346704" y="42062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Home Assistant / Apple HomeKit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3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3"/>
          <p:cNvSpPr/>
          <p:nvPr/>
        </p:nvSpPr>
        <p:spPr>
          <a:xfrm>
            <a:off x="256032" y="45720"/>
            <a:ext cx="5943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— Live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3"/>
          <p:cNvSpPr/>
          <p:nvPr/>
        </p:nvSpPr>
        <p:spPr>
          <a:xfrm>
            <a:off x="318802" y="804676"/>
            <a:ext cx="8541600" cy="40776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3"/>
          <p:cNvSpPr/>
          <p:nvPr/>
        </p:nvSpPr>
        <p:spPr>
          <a:xfrm>
            <a:off x="6071616" y="804672"/>
            <a:ext cx="2788920" cy="36576"/>
          </a:xfrm>
          <a:prstGeom prst="rect">
            <a:avLst/>
          </a:prstGeom>
          <a:solidFill>
            <a:srgbClr val="1B4FD8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3"/>
          <p:cNvSpPr/>
          <p:nvPr/>
        </p:nvSpPr>
        <p:spPr>
          <a:xfrm>
            <a:off x="3460728" y="2324923"/>
            <a:ext cx="31293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D8"/>
              </a:buClr>
              <a:buSzPts val="1500"/>
              <a:buFont typeface="Calibri"/>
              <a:buNone/>
            </a:pPr>
            <a:r>
              <a:rPr b="1" lang="en-US" sz="3600">
                <a:solidFill>
                  <a:srgbClr val="1B4FD8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5"/>
          <p:cNvSpPr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Vielen Dank!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152B47"/>
                </a:solidFill>
                <a:latin typeface="Calibri"/>
                <a:ea typeface="Calibri"/>
                <a:cs typeface="Calibri"/>
                <a:sym typeface="Calibri"/>
              </a:rPr>
              <a:t>für Ihre Aufmerksamkeit</a:t>
            </a:r>
            <a:endParaRPr b="0" i="0" sz="2200" u="none" cap="none" strike="noStrike">
              <a:solidFill>
                <a:srgbClr val="152B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3200400" y="2633472"/>
            <a:ext cx="2743200" cy="36576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5"/>
          <p:cNvSpPr/>
          <p:nvPr/>
        </p:nvSpPr>
        <p:spPr>
          <a:xfrm>
            <a:off x="2286000" y="2788920"/>
            <a:ext cx="4572000" cy="5943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B4F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94A3B8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5"/>
          <p:cNvSpPr/>
          <p:nvPr/>
        </p:nvSpPr>
        <p:spPr>
          <a:xfrm>
            <a:off x="2377440" y="290779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https://www.</a:t>
            </a:r>
            <a:r>
              <a:rPr b="0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github.com/MusLead/Smart-Home-Ventilation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Fragen?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Home Ventilation System  ·  Hochschule Fulda WS25/26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2026-03-16T17:28:20Z</dcterms:created>
  <dc:creator>PptxGenJS</dc:creator>
</cp:coreProperties>
</file>